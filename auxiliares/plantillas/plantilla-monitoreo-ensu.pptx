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9144000" cy="5143500"/>
  <p:notesSz cx="6858000" cy="9144000"/>
  <p:embeddedFontLst>
    <p:embeddedFont>
      <p:font typeface="Atkinson Hyperlegible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536"/>
        <p:guide orient="horz" pos="2522"/>
        <p:guide pos="322"/>
        <p:guide pos="700"/>
        <p:guide pos="2743"/>
        <p:guide orient="horz" pos="3043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font" Target="fonts/font4.fntdata"/><Relationship Id="rId30" Type="http://schemas.openxmlformats.org/officeDocument/2006/relationships/font" Target="fonts/font3.fntdata"/><Relationship Id="rId3" Type="http://schemas.openxmlformats.org/officeDocument/2006/relationships/slide" Target="slides/slide1.xml"/><Relationship Id="rId29" Type="http://schemas.openxmlformats.org/officeDocument/2006/relationships/font" Target="fonts/font2.fntdata"/><Relationship Id="rId28" Type="http://schemas.openxmlformats.org/officeDocument/2006/relationships/font" Target="fonts/font1.fntdata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9150a50ff_0_78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c9150a50ff_0_78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9150a50ff_0_81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9150a50ff_0_8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9150a50ff_0_84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9150a50ff_0_84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9150a50ff_0_87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c9150a50ff_0_87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c9150a50ff_0_90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c9150a50ff_0_90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c9150a50ff_0_94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c9150a50ff_0_94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9150a50ff_0_97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c9150a50ff_0_97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c9150a50ff_0_100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c9150a50ff_0_100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c9150a50ff_0_103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c9150a50ff_0_10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c9150a50ff_0_106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c9150a50ff_0_106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c9150a50ff_0_110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c9150a50ff_0_110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c9150a50ff_0_113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c9150a50ff_0_113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c9150a50ff_0_116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c9150a50ff_0_116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c9150a50ff_0_119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c9150a50ff_0_119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c9150a50ff_0_122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c9150a50ff_0_122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c9150a50ff_0_127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c9150a50ff_0_127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c8e1aef01e_0_44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c8e1aef01e_0_44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c9150a50ff_0_146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c9150a50ff_0_146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c9150a50ff_0_142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c9150a50ff_0_142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c8d47047fa_0_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3c8d47047fa_0_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19.png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png"/><Relationship Id="rId8" Type="http://schemas.openxmlformats.org/officeDocument/2006/relationships/image" Target="../media/image28.png"/><Relationship Id="rId7" Type="http://schemas.openxmlformats.org/officeDocument/2006/relationships/image" Target="../media/image27.png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3" Type="http://schemas.openxmlformats.org/officeDocument/2006/relationships/notesSlide" Target="../notesSlides/notesSlide18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2.png"/><Relationship Id="rId10" Type="http://schemas.openxmlformats.org/officeDocument/2006/relationships/image" Target="../media/image30.png"/><Relationship Id="rId1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9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36.png"/><Relationship Id="rId6" Type="http://schemas.openxmlformats.org/officeDocument/2006/relationships/image" Target="../media/image2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hyperlink" Target="https://www.flaticon.es/autores/zulfa-mahendra" TargetMode="External"/><Relationship Id="rId7" Type="http://schemas.openxmlformats.org/officeDocument/2006/relationships/hyperlink" Target="https://www.flaticon.es/autores/becris" TargetMode="External"/><Relationship Id="rId6" Type="http://schemas.openxmlformats.org/officeDocument/2006/relationships/hyperlink" Target="https://www.flaticon.es/autores/vectors-tank" TargetMode="External"/><Relationship Id="rId5" Type="http://schemas.openxmlformats.org/officeDocument/2006/relationships/hyperlink" Target="https://www.flaticon.es/autores/kerismaker" TargetMode="External"/><Relationship Id="rId4" Type="http://schemas.openxmlformats.org/officeDocument/2006/relationships/hyperlink" Target="https://www.flaticon.es/autores/three-musketeers" TargetMode="External"/><Relationship Id="rId3" Type="http://schemas.openxmlformats.org/officeDocument/2006/relationships/hyperlink" Target="https://www.flaticon.es/autores/mynamepong" TargetMode="External"/><Relationship Id="rId2" Type="http://schemas.openxmlformats.org/officeDocument/2006/relationships/hyperlink" Target="https://www.flaticon.es/autores/peerapak-takpho" TargetMode="External"/><Relationship Id="rId11" Type="http://schemas.openxmlformats.org/officeDocument/2006/relationships/notesSlide" Target="../notesSlides/notesSlide20.xml"/><Relationship Id="rId10" Type="http://schemas.openxmlformats.org/officeDocument/2006/relationships/slideLayout" Target="../slideLayouts/slideLayout1.xml"/><Relationship Id="rId1" Type="http://schemas.openxmlformats.org/officeDocument/2006/relationships/hyperlink" Target="https://www.flaticon.es/autores/chattapat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Google Shape;54;p13"/>
          <p:cNvCxnSpPr/>
          <p:nvPr/>
        </p:nvCxnSpPr>
        <p:spPr>
          <a:xfrm flipH="1">
            <a:off x="3914200" y="345550"/>
            <a:ext cx="13200" cy="4611900"/>
          </a:xfrm>
          <a:prstGeom prst="straightConnector1">
            <a:avLst/>
          </a:prstGeom>
          <a:noFill/>
          <a:ln w="38100" cap="flat" cmpd="sng">
            <a:solidFill>
              <a:srgbClr val="2E4D5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" name="Google Shape;55;p13"/>
          <p:cNvSpPr txBox="1"/>
          <p:nvPr/>
        </p:nvSpPr>
        <p:spPr>
          <a:xfrm>
            <a:off x="4173275" y="733850"/>
            <a:ext cx="4718100" cy="21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Problemas principales percibidos en las Alcaldías de la Ciudad de México</a:t>
            </a:r>
            <a:endParaRPr sz="3200" b="1">
              <a:solidFill>
                <a:srgbClr val="2E4D5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173275" y="3108150"/>
            <a:ext cx="4401900" cy="7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Fuente: </a:t>
            </a:r>
            <a:r>
              <a:rPr lang="en-US" sz="18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ENSU (INEGI) </a:t>
            </a:r>
            <a:endParaRPr sz="1800">
              <a:solidFill>
                <a:srgbClr val="2E4D5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Trimestre: </a:t>
            </a:r>
            <a:r>
              <a:rPr lang="en-US" sz="1800" b="1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oct-dic </a:t>
            </a:r>
            <a:r>
              <a:rPr lang="en-US" sz="1800" b="1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2025</a:t>
            </a:r>
            <a:endParaRPr sz="1800" b="1">
              <a:solidFill>
                <a:srgbClr val="2E4D5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32100" y="451450"/>
            <a:ext cx="3662474" cy="4508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4173275" y="4224773"/>
            <a:ext cx="3202530" cy="70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4044713" y="1442415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4" name="Google Shape;64;p14"/>
          <p:cNvSpPr txBox="1"/>
          <p:nvPr/>
        </p:nvSpPr>
        <p:spPr>
          <a:xfrm>
            <a:off x="368075" y="146650"/>
            <a:ext cx="23631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Azcapotzalco</a:t>
            </a:r>
            <a:endParaRPr sz="2600">
              <a:solidFill>
                <a:srgbClr val="2E4D5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3805304" y="859715"/>
            <a:ext cx="4953300" cy="4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BAD54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5 problemas más importantes reportados</a:t>
            </a:r>
            <a:endParaRPr sz="1900" b="1">
              <a:solidFill>
                <a:srgbClr val="BAD54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4877103" y="1442436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7" name="Google Shape;67;p14"/>
          <p:cNvSpPr/>
          <p:nvPr/>
        </p:nvSpPr>
        <p:spPr>
          <a:xfrm>
            <a:off x="5816263" y="1444180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8" name="Google Shape;68;p14"/>
          <p:cNvSpPr/>
          <p:nvPr/>
        </p:nvSpPr>
        <p:spPr>
          <a:xfrm>
            <a:off x="6755407" y="1449060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9" name="Google Shape;69;p14"/>
          <p:cNvSpPr/>
          <p:nvPr/>
        </p:nvSpPr>
        <p:spPr>
          <a:xfrm>
            <a:off x="7648827" y="1442415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0" name="Google Shape;70;p14"/>
          <p:cNvSpPr txBox="1"/>
          <p:nvPr/>
        </p:nvSpPr>
        <p:spPr>
          <a:xfrm>
            <a:off x="3805305" y="2644510"/>
            <a:ext cx="4920900" cy="7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BAD54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Percepción sobre la efectividad del gobierno para resolver problemáticas</a:t>
            </a:r>
            <a:endParaRPr sz="1900">
              <a:solidFill>
                <a:srgbClr val="BAD548"/>
              </a:solidFill>
            </a:endParaRPr>
          </a:p>
        </p:txBody>
      </p:sp>
      <p:cxnSp>
        <p:nvCxnSpPr>
          <p:cNvPr id="71" name="Google Shape;71;p14"/>
          <p:cNvCxnSpPr/>
          <p:nvPr/>
        </p:nvCxnSpPr>
        <p:spPr>
          <a:xfrm>
            <a:off x="3874255" y="2565100"/>
            <a:ext cx="4574700" cy="13200"/>
          </a:xfrm>
          <a:prstGeom prst="straightConnector1">
            <a:avLst/>
          </a:prstGeom>
          <a:noFill/>
          <a:ln w="28575" cap="flat" cmpd="sng">
            <a:solidFill>
              <a:srgbClr val="2E4D5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2" name="Google Shape;72;p14"/>
          <p:cNvSpPr txBox="1"/>
          <p:nvPr/>
        </p:nvSpPr>
        <p:spPr>
          <a:xfrm>
            <a:off x="5006349" y="3499088"/>
            <a:ext cx="24510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Muy o algo efectivo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638500" y="4804303"/>
            <a:ext cx="1361491" cy="3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4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3950779" y="4066599"/>
            <a:ext cx="423300" cy="350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912780" y="3592187"/>
            <a:ext cx="441339" cy="3655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4"/>
          <p:cNvSpPr txBox="1"/>
          <p:nvPr/>
        </p:nvSpPr>
        <p:spPr>
          <a:xfrm>
            <a:off x="1210775" y="4407575"/>
            <a:ext cx="2800500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se sintió insegura</a:t>
            </a:r>
            <a:endParaRPr sz="2200">
              <a:solidFill>
                <a:srgbClr val="2E4D5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5006053" y="4003688"/>
            <a:ext cx="24510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Poco o nada efectivo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8" name="Google Shape;78;p14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511249" y="850750"/>
            <a:ext cx="2550749" cy="3377858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"/>
          <p:cNvSpPr txBox="1"/>
          <p:nvPr/>
        </p:nvSpPr>
        <p:spPr>
          <a:xfrm>
            <a:off x="6306425" y="150350"/>
            <a:ext cx="2412300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ENSU </a:t>
            </a:r>
            <a:r>
              <a:rPr lang="en-US" sz="1500" b="1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|</a:t>
            </a:r>
            <a:r>
              <a:rPr lang="en-US" sz="15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1500" b="1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oct-dic 2025</a:t>
            </a:r>
            <a:r>
              <a:rPr lang="en-US" sz="15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endParaRPr sz="1500">
              <a:solidFill>
                <a:srgbClr val="2E4D5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/>
        </p:nvSpPr>
        <p:spPr>
          <a:xfrm>
            <a:off x="368075" y="146650"/>
            <a:ext cx="22503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Coyoacán</a:t>
            </a:r>
            <a:endParaRPr sz="2600">
              <a:solidFill>
                <a:srgbClr val="2E4D5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pic>
        <p:nvPicPr>
          <p:cNvPr id="85" name="Google Shape;85;p1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638500" y="4804303"/>
            <a:ext cx="1361491" cy="3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04604" y="850750"/>
            <a:ext cx="2550749" cy="337785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5"/>
          <p:cNvSpPr/>
          <p:nvPr/>
        </p:nvSpPr>
        <p:spPr>
          <a:xfrm>
            <a:off x="4044713" y="1442415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9" name="Google Shape;89;p15"/>
          <p:cNvSpPr txBox="1"/>
          <p:nvPr/>
        </p:nvSpPr>
        <p:spPr>
          <a:xfrm>
            <a:off x="3805304" y="859715"/>
            <a:ext cx="4953300" cy="4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BAD54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5 problemas más importantes reportados</a:t>
            </a:r>
            <a:endParaRPr sz="1900" b="1">
              <a:solidFill>
                <a:srgbClr val="BAD54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90" name="Google Shape;90;p15"/>
          <p:cNvSpPr/>
          <p:nvPr/>
        </p:nvSpPr>
        <p:spPr>
          <a:xfrm>
            <a:off x="4877103" y="1442436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1" name="Google Shape;91;p15"/>
          <p:cNvSpPr/>
          <p:nvPr/>
        </p:nvSpPr>
        <p:spPr>
          <a:xfrm>
            <a:off x="5816263" y="1444180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" name="Google Shape;92;p15"/>
          <p:cNvSpPr txBox="1"/>
          <p:nvPr/>
        </p:nvSpPr>
        <p:spPr>
          <a:xfrm>
            <a:off x="3805305" y="2644510"/>
            <a:ext cx="4920900" cy="7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BAD54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Percepción sobre la efectividad del gobierno para resolver problemáticas</a:t>
            </a:r>
            <a:endParaRPr sz="1900">
              <a:solidFill>
                <a:srgbClr val="BAD548"/>
              </a:solidFill>
            </a:endParaRPr>
          </a:p>
        </p:txBody>
      </p:sp>
      <p:cxnSp>
        <p:nvCxnSpPr>
          <p:cNvPr id="93" name="Google Shape;93;p15"/>
          <p:cNvCxnSpPr/>
          <p:nvPr/>
        </p:nvCxnSpPr>
        <p:spPr>
          <a:xfrm>
            <a:off x="3874255" y="2565100"/>
            <a:ext cx="4574700" cy="13200"/>
          </a:xfrm>
          <a:prstGeom prst="straightConnector1">
            <a:avLst/>
          </a:prstGeom>
          <a:noFill/>
          <a:ln w="28575" cap="flat" cmpd="sng">
            <a:solidFill>
              <a:srgbClr val="2E4D5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5" name="Google Shape;95;p1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950779" y="4066599"/>
            <a:ext cx="423300" cy="350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5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3912780" y="3592187"/>
            <a:ext cx="441339" cy="3655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/>
          <p:nvPr/>
        </p:nvSpPr>
        <p:spPr>
          <a:xfrm>
            <a:off x="6755407" y="1449060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0" name="Google Shape;100;p15"/>
          <p:cNvSpPr/>
          <p:nvPr/>
        </p:nvSpPr>
        <p:spPr>
          <a:xfrm>
            <a:off x="7648827" y="1442415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9" name="Google Shape;79;p14"/>
          <p:cNvSpPr txBox="1"/>
          <p:nvPr/>
        </p:nvSpPr>
        <p:spPr>
          <a:xfrm>
            <a:off x="6306425" y="150350"/>
            <a:ext cx="2412300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ENSU </a:t>
            </a:r>
            <a:r>
              <a:rPr lang="en-US" sz="1500" b="1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|</a:t>
            </a:r>
            <a:r>
              <a:rPr lang="en-US" sz="15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1500" b="1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oct-dic 2025</a:t>
            </a:r>
            <a:r>
              <a:rPr lang="en-US" sz="15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endParaRPr sz="1500">
              <a:solidFill>
                <a:srgbClr val="2E4D5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5006349" y="3499088"/>
            <a:ext cx="24510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Muy o algo efectivo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5006053" y="4003688"/>
            <a:ext cx="24510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Poco o nada efectivo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1210775" y="4407575"/>
            <a:ext cx="2800500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se sintió insegura</a:t>
            </a:r>
            <a:endParaRPr sz="2200">
              <a:solidFill>
                <a:srgbClr val="2E4D5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/>
        </p:nvSpPr>
        <p:spPr>
          <a:xfrm>
            <a:off x="368075" y="146650"/>
            <a:ext cx="38784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Cuajimalpa de Morelos</a:t>
            </a:r>
            <a:endParaRPr sz="2600">
              <a:solidFill>
                <a:srgbClr val="2E4D5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pic>
        <p:nvPicPr>
          <p:cNvPr id="106" name="Google Shape;106;p1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638500" y="4804303"/>
            <a:ext cx="1361491" cy="3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6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04604" y="850750"/>
            <a:ext cx="2550749" cy="337785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6"/>
          <p:cNvSpPr txBox="1"/>
          <p:nvPr/>
        </p:nvSpPr>
        <p:spPr>
          <a:xfrm>
            <a:off x="6306425" y="150350"/>
            <a:ext cx="2412300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ENSU </a:t>
            </a:r>
            <a:r>
              <a:rPr lang="en-US" sz="1500" b="1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|</a:t>
            </a:r>
            <a:r>
              <a:rPr lang="en-US" sz="15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1500" b="1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oct-dic 2025</a:t>
            </a:r>
            <a:r>
              <a:rPr lang="en-US" sz="15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endParaRPr sz="1500">
              <a:solidFill>
                <a:srgbClr val="2E4D5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4044713" y="1442415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0" name="Google Shape;110;p16"/>
          <p:cNvSpPr txBox="1"/>
          <p:nvPr/>
        </p:nvSpPr>
        <p:spPr>
          <a:xfrm>
            <a:off x="3805304" y="859715"/>
            <a:ext cx="4953300" cy="4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BAD54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5 problemas más importantes reportados</a:t>
            </a:r>
            <a:endParaRPr sz="1900" b="1">
              <a:solidFill>
                <a:srgbClr val="BAD54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4877103" y="1442436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16"/>
          <p:cNvSpPr/>
          <p:nvPr/>
        </p:nvSpPr>
        <p:spPr>
          <a:xfrm>
            <a:off x="5816263" y="1444180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3" name="Google Shape;113;p16"/>
          <p:cNvSpPr txBox="1"/>
          <p:nvPr/>
        </p:nvSpPr>
        <p:spPr>
          <a:xfrm>
            <a:off x="3805305" y="2644510"/>
            <a:ext cx="4920900" cy="7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BAD54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Percepción sobre la efectividad del gobierno para resolver problemáticas</a:t>
            </a:r>
            <a:endParaRPr sz="1900">
              <a:solidFill>
                <a:srgbClr val="BAD548"/>
              </a:solidFill>
            </a:endParaRPr>
          </a:p>
        </p:txBody>
      </p:sp>
      <p:cxnSp>
        <p:nvCxnSpPr>
          <p:cNvPr id="114" name="Google Shape;114;p16"/>
          <p:cNvCxnSpPr/>
          <p:nvPr/>
        </p:nvCxnSpPr>
        <p:spPr>
          <a:xfrm>
            <a:off x="3874255" y="2565100"/>
            <a:ext cx="4574700" cy="13200"/>
          </a:xfrm>
          <a:prstGeom prst="straightConnector1">
            <a:avLst/>
          </a:prstGeom>
          <a:noFill/>
          <a:ln w="28575" cap="flat" cmpd="sng">
            <a:solidFill>
              <a:srgbClr val="2E4D5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950779" y="4066599"/>
            <a:ext cx="423300" cy="350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3912780" y="3592187"/>
            <a:ext cx="441339" cy="36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/>
          <p:nvPr/>
        </p:nvSpPr>
        <p:spPr>
          <a:xfrm>
            <a:off x="6755407" y="1449060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1" name="Google Shape;121;p16"/>
          <p:cNvSpPr/>
          <p:nvPr/>
        </p:nvSpPr>
        <p:spPr>
          <a:xfrm>
            <a:off x="7648827" y="1442415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2" name="Google Shape;72;p14"/>
          <p:cNvSpPr txBox="1"/>
          <p:nvPr/>
        </p:nvSpPr>
        <p:spPr>
          <a:xfrm>
            <a:off x="5006349" y="3499088"/>
            <a:ext cx="24510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Muy o algo efectivo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5006053" y="4003688"/>
            <a:ext cx="24510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Poco o nada efectivo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1210775" y="4407575"/>
            <a:ext cx="2800500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se sintió insegura</a:t>
            </a:r>
            <a:endParaRPr sz="2200">
              <a:solidFill>
                <a:srgbClr val="2E4D5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/>
          <p:nvPr/>
        </p:nvSpPr>
        <p:spPr>
          <a:xfrm>
            <a:off x="368075" y="146650"/>
            <a:ext cx="33069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Gustavo A. Madero </a:t>
            </a:r>
            <a:endParaRPr sz="2600">
              <a:solidFill>
                <a:srgbClr val="2E4D5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pic>
        <p:nvPicPr>
          <p:cNvPr id="127" name="Google Shape;127;p17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638500" y="4804303"/>
            <a:ext cx="1361491" cy="3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11249" y="850750"/>
            <a:ext cx="2550749" cy="337785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/>
          <p:nvPr/>
        </p:nvSpPr>
        <p:spPr>
          <a:xfrm>
            <a:off x="4044713" y="1442415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1" name="Google Shape;131;p17"/>
          <p:cNvSpPr txBox="1"/>
          <p:nvPr/>
        </p:nvSpPr>
        <p:spPr>
          <a:xfrm>
            <a:off x="3805304" y="859715"/>
            <a:ext cx="4953300" cy="4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BAD54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5 problemas más importantes reportados</a:t>
            </a:r>
            <a:endParaRPr sz="1900" b="1">
              <a:solidFill>
                <a:srgbClr val="BAD54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4877103" y="1442436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3" name="Google Shape;133;p17"/>
          <p:cNvSpPr/>
          <p:nvPr/>
        </p:nvSpPr>
        <p:spPr>
          <a:xfrm>
            <a:off x="5816263" y="1444180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4" name="Google Shape;134;p17"/>
          <p:cNvSpPr txBox="1"/>
          <p:nvPr/>
        </p:nvSpPr>
        <p:spPr>
          <a:xfrm>
            <a:off x="3805305" y="2644510"/>
            <a:ext cx="4920900" cy="7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BAD54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Percepción sobre la efectividad del gobierno para resolver problemáticas</a:t>
            </a:r>
            <a:endParaRPr sz="1900">
              <a:solidFill>
                <a:srgbClr val="BAD548"/>
              </a:solidFill>
            </a:endParaRPr>
          </a:p>
        </p:txBody>
      </p:sp>
      <p:cxnSp>
        <p:nvCxnSpPr>
          <p:cNvPr id="135" name="Google Shape;135;p17"/>
          <p:cNvCxnSpPr/>
          <p:nvPr/>
        </p:nvCxnSpPr>
        <p:spPr>
          <a:xfrm>
            <a:off x="3874255" y="2565100"/>
            <a:ext cx="4574700" cy="13200"/>
          </a:xfrm>
          <a:prstGeom prst="straightConnector1">
            <a:avLst/>
          </a:prstGeom>
          <a:noFill/>
          <a:ln w="28575" cap="flat" cmpd="sng">
            <a:solidFill>
              <a:srgbClr val="2E4D5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7" name="Google Shape;137;p17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950779" y="4066599"/>
            <a:ext cx="423300" cy="350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3912780" y="3592187"/>
            <a:ext cx="441339" cy="36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/>
          <p:nvPr/>
        </p:nvSpPr>
        <p:spPr>
          <a:xfrm>
            <a:off x="6755407" y="1449060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2" name="Google Shape;142;p17"/>
          <p:cNvSpPr/>
          <p:nvPr/>
        </p:nvSpPr>
        <p:spPr>
          <a:xfrm>
            <a:off x="7648827" y="1442415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9" name="Google Shape;79;p14"/>
          <p:cNvSpPr txBox="1"/>
          <p:nvPr/>
        </p:nvSpPr>
        <p:spPr>
          <a:xfrm>
            <a:off x="6306425" y="150350"/>
            <a:ext cx="2412300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ENSU </a:t>
            </a:r>
            <a:r>
              <a:rPr lang="en-US" sz="1500" b="1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|</a:t>
            </a:r>
            <a:r>
              <a:rPr lang="en-US" sz="15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1500" b="1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oct-dic 2025</a:t>
            </a:r>
            <a:r>
              <a:rPr lang="en-US" sz="15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endParaRPr sz="1500">
              <a:solidFill>
                <a:srgbClr val="2E4D5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5006349" y="3499088"/>
            <a:ext cx="24510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Muy o algo efectivo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5006053" y="4003688"/>
            <a:ext cx="24510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Poco o nada efectivo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1210775" y="4407575"/>
            <a:ext cx="2800500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se sintió insegura</a:t>
            </a:r>
            <a:endParaRPr sz="2200">
              <a:solidFill>
                <a:srgbClr val="2E4D5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 txBox="1"/>
          <p:nvPr/>
        </p:nvSpPr>
        <p:spPr>
          <a:xfrm>
            <a:off x="368075" y="146650"/>
            <a:ext cx="17319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Iztacalco </a:t>
            </a:r>
            <a:endParaRPr sz="2600">
              <a:solidFill>
                <a:srgbClr val="2E4D5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pic>
        <p:nvPicPr>
          <p:cNvPr id="148" name="Google Shape;148;p18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638500" y="4804303"/>
            <a:ext cx="1361491" cy="3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8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11249" y="850750"/>
            <a:ext cx="2550749" cy="337785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/>
          <p:nvPr/>
        </p:nvSpPr>
        <p:spPr>
          <a:xfrm>
            <a:off x="4044713" y="1442415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2" name="Google Shape;152;p18"/>
          <p:cNvSpPr txBox="1"/>
          <p:nvPr/>
        </p:nvSpPr>
        <p:spPr>
          <a:xfrm>
            <a:off x="3805304" y="859715"/>
            <a:ext cx="4953300" cy="4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BAD54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5 problemas más importantes reportados</a:t>
            </a:r>
            <a:endParaRPr sz="1900" b="1">
              <a:solidFill>
                <a:srgbClr val="BAD54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4877103" y="1442436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4" name="Google Shape;154;p18"/>
          <p:cNvSpPr/>
          <p:nvPr/>
        </p:nvSpPr>
        <p:spPr>
          <a:xfrm>
            <a:off x="5816263" y="1444180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5" name="Google Shape;155;p18"/>
          <p:cNvSpPr txBox="1"/>
          <p:nvPr/>
        </p:nvSpPr>
        <p:spPr>
          <a:xfrm>
            <a:off x="3805305" y="2644510"/>
            <a:ext cx="4920900" cy="7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BAD54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Percepción sobre la efectividad del gobierno para resolver problemáticas</a:t>
            </a:r>
            <a:endParaRPr sz="1900">
              <a:solidFill>
                <a:srgbClr val="BAD548"/>
              </a:solidFill>
            </a:endParaRPr>
          </a:p>
        </p:txBody>
      </p:sp>
      <p:cxnSp>
        <p:nvCxnSpPr>
          <p:cNvPr id="156" name="Google Shape;156;p18"/>
          <p:cNvCxnSpPr/>
          <p:nvPr/>
        </p:nvCxnSpPr>
        <p:spPr>
          <a:xfrm>
            <a:off x="3874255" y="2565100"/>
            <a:ext cx="4574700" cy="13200"/>
          </a:xfrm>
          <a:prstGeom prst="straightConnector1">
            <a:avLst/>
          </a:prstGeom>
          <a:noFill/>
          <a:ln w="28575" cap="flat" cmpd="sng">
            <a:solidFill>
              <a:srgbClr val="2E4D5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8" name="Google Shape;158;p18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950779" y="4066599"/>
            <a:ext cx="423300" cy="350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3912780" y="3592187"/>
            <a:ext cx="441339" cy="36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/>
          <p:nvPr/>
        </p:nvSpPr>
        <p:spPr>
          <a:xfrm>
            <a:off x="6755407" y="1449060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3" name="Google Shape;163;p18"/>
          <p:cNvSpPr/>
          <p:nvPr/>
        </p:nvSpPr>
        <p:spPr>
          <a:xfrm>
            <a:off x="7648827" y="1442415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9" name="Google Shape;79;p14"/>
          <p:cNvSpPr txBox="1"/>
          <p:nvPr/>
        </p:nvSpPr>
        <p:spPr>
          <a:xfrm>
            <a:off x="6306425" y="150350"/>
            <a:ext cx="2412300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ENSU </a:t>
            </a:r>
            <a:r>
              <a:rPr lang="en-US" sz="1500" b="1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|</a:t>
            </a:r>
            <a:r>
              <a:rPr lang="en-US" sz="15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1500" b="1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oct-dic 2025</a:t>
            </a:r>
            <a:r>
              <a:rPr lang="en-US" sz="15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endParaRPr sz="1500">
              <a:solidFill>
                <a:srgbClr val="2E4D5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5006349" y="3499088"/>
            <a:ext cx="24510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Muy o algo efectivo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5006053" y="4003688"/>
            <a:ext cx="24510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Poco o nada efectivo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1210775" y="4407575"/>
            <a:ext cx="2800500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se sintió insegura</a:t>
            </a:r>
            <a:endParaRPr sz="2200">
              <a:solidFill>
                <a:srgbClr val="2E4D5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/>
          <p:nvPr/>
        </p:nvSpPr>
        <p:spPr>
          <a:xfrm>
            <a:off x="368075" y="146650"/>
            <a:ext cx="18714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Iztapalapa</a:t>
            </a:r>
            <a:r>
              <a:rPr lang="en-US" sz="2600" b="1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endParaRPr sz="2600">
              <a:solidFill>
                <a:srgbClr val="2E4D5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pic>
        <p:nvPicPr>
          <p:cNvPr id="169" name="Google Shape;169;p19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638500" y="4804303"/>
            <a:ext cx="1361491" cy="3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9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11249" y="850750"/>
            <a:ext cx="2550749" cy="3377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/>
          <p:nvPr/>
        </p:nvSpPr>
        <p:spPr>
          <a:xfrm>
            <a:off x="4044713" y="1442415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3" name="Google Shape;173;p19"/>
          <p:cNvSpPr txBox="1"/>
          <p:nvPr/>
        </p:nvSpPr>
        <p:spPr>
          <a:xfrm>
            <a:off x="3805304" y="859715"/>
            <a:ext cx="4953300" cy="4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BAD54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5 problemas más importantes reportados</a:t>
            </a:r>
            <a:endParaRPr sz="1900" b="1">
              <a:solidFill>
                <a:srgbClr val="BAD54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4877103" y="1442436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5" name="Google Shape;175;p19"/>
          <p:cNvSpPr/>
          <p:nvPr/>
        </p:nvSpPr>
        <p:spPr>
          <a:xfrm>
            <a:off x="5816263" y="1444180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6" name="Google Shape;176;p19"/>
          <p:cNvSpPr txBox="1"/>
          <p:nvPr/>
        </p:nvSpPr>
        <p:spPr>
          <a:xfrm>
            <a:off x="3805305" y="2644510"/>
            <a:ext cx="4920900" cy="7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BAD54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Percepción sobre la efectividad del gobierno para resolver problemáticas</a:t>
            </a:r>
            <a:endParaRPr sz="1900">
              <a:solidFill>
                <a:srgbClr val="BAD548"/>
              </a:solidFill>
            </a:endParaRPr>
          </a:p>
        </p:txBody>
      </p:sp>
      <p:cxnSp>
        <p:nvCxnSpPr>
          <p:cNvPr id="177" name="Google Shape;177;p19"/>
          <p:cNvCxnSpPr/>
          <p:nvPr/>
        </p:nvCxnSpPr>
        <p:spPr>
          <a:xfrm>
            <a:off x="3874255" y="2565100"/>
            <a:ext cx="4574700" cy="13200"/>
          </a:xfrm>
          <a:prstGeom prst="straightConnector1">
            <a:avLst/>
          </a:prstGeom>
          <a:noFill/>
          <a:ln w="28575" cap="flat" cmpd="sng">
            <a:solidFill>
              <a:srgbClr val="2E4D5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9" name="Google Shape;179;p19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950779" y="4066599"/>
            <a:ext cx="423300" cy="350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9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3912780" y="3592187"/>
            <a:ext cx="441339" cy="36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/>
          <p:nvPr/>
        </p:nvSpPr>
        <p:spPr>
          <a:xfrm>
            <a:off x="6755407" y="1449060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4" name="Google Shape;184;p19"/>
          <p:cNvSpPr/>
          <p:nvPr/>
        </p:nvSpPr>
        <p:spPr>
          <a:xfrm>
            <a:off x="7648827" y="1442415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9" name="Google Shape;79;p14"/>
          <p:cNvSpPr txBox="1"/>
          <p:nvPr/>
        </p:nvSpPr>
        <p:spPr>
          <a:xfrm>
            <a:off x="6306425" y="150350"/>
            <a:ext cx="2412300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ENSU </a:t>
            </a:r>
            <a:r>
              <a:rPr lang="en-US" sz="1500" b="1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|</a:t>
            </a:r>
            <a:r>
              <a:rPr lang="en-US" sz="15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1500" b="1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oct-dic 2025</a:t>
            </a:r>
            <a:r>
              <a:rPr lang="en-US" sz="15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endParaRPr sz="1500">
              <a:solidFill>
                <a:srgbClr val="2E4D5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5006349" y="3499088"/>
            <a:ext cx="24510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Muy o algo efectivo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5006053" y="4003688"/>
            <a:ext cx="24510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Poco o nada efectivo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1210775" y="4407575"/>
            <a:ext cx="2800500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se sintió insegura</a:t>
            </a:r>
            <a:endParaRPr sz="2200">
              <a:solidFill>
                <a:srgbClr val="2E4D5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"/>
          <p:cNvSpPr txBox="1"/>
          <p:nvPr/>
        </p:nvSpPr>
        <p:spPr>
          <a:xfrm>
            <a:off x="368300" y="146685"/>
            <a:ext cx="5536565" cy="551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La Magdalena Contreras</a:t>
            </a:r>
            <a:endParaRPr sz="2600">
              <a:solidFill>
                <a:srgbClr val="2E4D5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pic>
        <p:nvPicPr>
          <p:cNvPr id="190" name="Google Shape;190;p20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638500" y="4804303"/>
            <a:ext cx="1361491" cy="3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11249" y="850750"/>
            <a:ext cx="2550749" cy="3377858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/>
          <p:nvPr/>
        </p:nvSpPr>
        <p:spPr>
          <a:xfrm>
            <a:off x="4044713" y="1442415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4" name="Google Shape;194;p20"/>
          <p:cNvSpPr txBox="1"/>
          <p:nvPr/>
        </p:nvSpPr>
        <p:spPr>
          <a:xfrm>
            <a:off x="3805304" y="859715"/>
            <a:ext cx="4953300" cy="4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BAD54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5 problemas más importantes reportados</a:t>
            </a:r>
            <a:endParaRPr sz="1900" b="1">
              <a:solidFill>
                <a:srgbClr val="BAD54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4877103" y="1442436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6" name="Google Shape;196;p20"/>
          <p:cNvSpPr/>
          <p:nvPr/>
        </p:nvSpPr>
        <p:spPr>
          <a:xfrm>
            <a:off x="5816263" y="1444180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7" name="Google Shape;197;p20"/>
          <p:cNvSpPr txBox="1"/>
          <p:nvPr/>
        </p:nvSpPr>
        <p:spPr>
          <a:xfrm>
            <a:off x="3805305" y="2644510"/>
            <a:ext cx="4920900" cy="7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BAD54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Percepción sobre la efectividad del gobierno para resolver problemáticas</a:t>
            </a:r>
            <a:endParaRPr sz="1900">
              <a:solidFill>
                <a:srgbClr val="BAD548"/>
              </a:solidFill>
            </a:endParaRPr>
          </a:p>
        </p:txBody>
      </p:sp>
      <p:cxnSp>
        <p:nvCxnSpPr>
          <p:cNvPr id="198" name="Google Shape;198;p20"/>
          <p:cNvCxnSpPr/>
          <p:nvPr/>
        </p:nvCxnSpPr>
        <p:spPr>
          <a:xfrm>
            <a:off x="3874255" y="2565100"/>
            <a:ext cx="4574700" cy="13200"/>
          </a:xfrm>
          <a:prstGeom prst="straightConnector1">
            <a:avLst/>
          </a:prstGeom>
          <a:noFill/>
          <a:ln w="28575" cap="flat" cmpd="sng">
            <a:solidFill>
              <a:srgbClr val="2E4D5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0" name="Google Shape;200;p2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950779" y="4066599"/>
            <a:ext cx="423300" cy="350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3912780" y="3592187"/>
            <a:ext cx="441339" cy="36552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/>
          <p:nvPr/>
        </p:nvSpPr>
        <p:spPr>
          <a:xfrm>
            <a:off x="6755407" y="1449060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5" name="Google Shape;205;p20"/>
          <p:cNvSpPr/>
          <p:nvPr/>
        </p:nvSpPr>
        <p:spPr>
          <a:xfrm>
            <a:off x="7648827" y="1442415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9" name="Google Shape;79;p14"/>
          <p:cNvSpPr txBox="1"/>
          <p:nvPr/>
        </p:nvSpPr>
        <p:spPr>
          <a:xfrm>
            <a:off x="6306425" y="150350"/>
            <a:ext cx="2412300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ENSU </a:t>
            </a:r>
            <a:r>
              <a:rPr lang="en-US" sz="1500" b="1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|</a:t>
            </a:r>
            <a:r>
              <a:rPr lang="en-US" sz="15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1500" b="1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oct-dic 2025</a:t>
            </a:r>
            <a:r>
              <a:rPr lang="en-US" sz="15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endParaRPr sz="1500">
              <a:solidFill>
                <a:srgbClr val="2E4D5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5006349" y="3499088"/>
            <a:ext cx="24510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Muy o algo efectivo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5006053" y="4003688"/>
            <a:ext cx="24510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Poco o nada efectivo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1210775" y="4407575"/>
            <a:ext cx="2800500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se sintió insegura</a:t>
            </a:r>
            <a:endParaRPr sz="2200">
              <a:solidFill>
                <a:srgbClr val="2E4D5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"/>
          <p:cNvSpPr txBox="1"/>
          <p:nvPr/>
        </p:nvSpPr>
        <p:spPr>
          <a:xfrm>
            <a:off x="368300" y="146685"/>
            <a:ext cx="2781300" cy="551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Milpa Alta</a:t>
            </a:r>
            <a:r>
              <a:rPr lang="en-US" sz="2600" b="1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endParaRPr sz="2600">
              <a:solidFill>
                <a:srgbClr val="2E4D5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pic>
        <p:nvPicPr>
          <p:cNvPr id="211" name="Google Shape;211;p21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638500" y="4804303"/>
            <a:ext cx="1361491" cy="3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1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11249" y="850750"/>
            <a:ext cx="2550749" cy="3377858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4044713" y="1442415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5" name="Google Shape;215;p21"/>
          <p:cNvSpPr txBox="1"/>
          <p:nvPr/>
        </p:nvSpPr>
        <p:spPr>
          <a:xfrm>
            <a:off x="3805304" y="859715"/>
            <a:ext cx="4953300" cy="4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BAD54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5 problemas más importantes reportados</a:t>
            </a:r>
            <a:endParaRPr sz="1900" b="1">
              <a:solidFill>
                <a:srgbClr val="BAD54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4877103" y="1442436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7" name="Google Shape;217;p21"/>
          <p:cNvSpPr/>
          <p:nvPr/>
        </p:nvSpPr>
        <p:spPr>
          <a:xfrm>
            <a:off x="5816263" y="1444180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8" name="Google Shape;218;p21"/>
          <p:cNvSpPr txBox="1"/>
          <p:nvPr/>
        </p:nvSpPr>
        <p:spPr>
          <a:xfrm>
            <a:off x="3805305" y="2644510"/>
            <a:ext cx="4920900" cy="7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BAD54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Percepción sobre la efectividad del gobierno para resolver problemáticas</a:t>
            </a:r>
            <a:endParaRPr sz="1900">
              <a:solidFill>
                <a:srgbClr val="BAD548"/>
              </a:solidFill>
            </a:endParaRPr>
          </a:p>
        </p:txBody>
      </p:sp>
      <p:cxnSp>
        <p:nvCxnSpPr>
          <p:cNvPr id="219" name="Google Shape;219;p21"/>
          <p:cNvCxnSpPr/>
          <p:nvPr/>
        </p:nvCxnSpPr>
        <p:spPr>
          <a:xfrm>
            <a:off x="3874255" y="2565100"/>
            <a:ext cx="4574700" cy="13200"/>
          </a:xfrm>
          <a:prstGeom prst="straightConnector1">
            <a:avLst/>
          </a:prstGeom>
          <a:noFill/>
          <a:ln w="28575" cap="flat" cmpd="sng">
            <a:solidFill>
              <a:srgbClr val="2E4D5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21" name="Google Shape;221;p21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950779" y="4066599"/>
            <a:ext cx="423300" cy="350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1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3912780" y="3592187"/>
            <a:ext cx="441339" cy="36552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1"/>
          <p:cNvSpPr/>
          <p:nvPr/>
        </p:nvSpPr>
        <p:spPr>
          <a:xfrm>
            <a:off x="6755407" y="1449060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6" name="Google Shape;226;p21"/>
          <p:cNvSpPr/>
          <p:nvPr/>
        </p:nvSpPr>
        <p:spPr>
          <a:xfrm>
            <a:off x="7648827" y="1442415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9" name="Google Shape;79;p14"/>
          <p:cNvSpPr txBox="1"/>
          <p:nvPr/>
        </p:nvSpPr>
        <p:spPr>
          <a:xfrm>
            <a:off x="6306425" y="150350"/>
            <a:ext cx="2412300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ENSU </a:t>
            </a:r>
            <a:r>
              <a:rPr lang="en-US" sz="1500" b="1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|</a:t>
            </a:r>
            <a:r>
              <a:rPr lang="en-US" sz="15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1500" b="1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oct-dic 2025</a:t>
            </a:r>
            <a:r>
              <a:rPr lang="en-US" sz="15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endParaRPr sz="1500">
              <a:solidFill>
                <a:srgbClr val="2E4D5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5006349" y="3499088"/>
            <a:ext cx="24510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Muy o algo efectivo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5006053" y="4003688"/>
            <a:ext cx="24510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Poco o nada efectivo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1210775" y="4407575"/>
            <a:ext cx="2800500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se sintió insegura</a:t>
            </a:r>
            <a:endParaRPr sz="2200">
              <a:solidFill>
                <a:srgbClr val="2E4D5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2"/>
          <p:cNvSpPr txBox="1"/>
          <p:nvPr/>
        </p:nvSpPr>
        <p:spPr>
          <a:xfrm>
            <a:off x="368075" y="146650"/>
            <a:ext cx="26556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Álvaro Obregón </a:t>
            </a:r>
            <a:endParaRPr sz="2600">
              <a:solidFill>
                <a:srgbClr val="2E4D5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pic>
        <p:nvPicPr>
          <p:cNvPr id="232" name="Google Shape;232;p22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638500" y="4804303"/>
            <a:ext cx="1361491" cy="3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04604" y="850750"/>
            <a:ext cx="2550749" cy="3377858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2"/>
          <p:cNvSpPr/>
          <p:nvPr/>
        </p:nvSpPr>
        <p:spPr>
          <a:xfrm>
            <a:off x="4044713" y="1442415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6" name="Google Shape;236;p22"/>
          <p:cNvSpPr txBox="1"/>
          <p:nvPr/>
        </p:nvSpPr>
        <p:spPr>
          <a:xfrm>
            <a:off x="3805304" y="859715"/>
            <a:ext cx="4953300" cy="4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BAD54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5 problemas más importantes reportados</a:t>
            </a:r>
            <a:endParaRPr sz="1900" b="1">
              <a:solidFill>
                <a:srgbClr val="BAD54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4877103" y="1442436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8" name="Google Shape;238;p22"/>
          <p:cNvSpPr/>
          <p:nvPr/>
        </p:nvSpPr>
        <p:spPr>
          <a:xfrm>
            <a:off x="5816263" y="1444180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9" name="Google Shape;239;p22"/>
          <p:cNvSpPr txBox="1"/>
          <p:nvPr/>
        </p:nvSpPr>
        <p:spPr>
          <a:xfrm>
            <a:off x="3805305" y="2644510"/>
            <a:ext cx="4920900" cy="7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BAD54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Percepción sobre la efectividad del gobierno para resolver problemáticas</a:t>
            </a:r>
            <a:endParaRPr sz="1900">
              <a:solidFill>
                <a:srgbClr val="BAD548"/>
              </a:solidFill>
            </a:endParaRPr>
          </a:p>
        </p:txBody>
      </p:sp>
      <p:cxnSp>
        <p:nvCxnSpPr>
          <p:cNvPr id="240" name="Google Shape;240;p22"/>
          <p:cNvCxnSpPr/>
          <p:nvPr/>
        </p:nvCxnSpPr>
        <p:spPr>
          <a:xfrm>
            <a:off x="3874255" y="2565100"/>
            <a:ext cx="4574700" cy="13200"/>
          </a:xfrm>
          <a:prstGeom prst="straightConnector1">
            <a:avLst/>
          </a:prstGeom>
          <a:noFill/>
          <a:ln w="28575" cap="flat" cmpd="sng">
            <a:solidFill>
              <a:srgbClr val="2E4D5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42" name="Google Shape;242;p22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950779" y="4066599"/>
            <a:ext cx="423300" cy="350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2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3912780" y="3592187"/>
            <a:ext cx="441339" cy="36552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2"/>
          <p:cNvSpPr/>
          <p:nvPr/>
        </p:nvSpPr>
        <p:spPr>
          <a:xfrm>
            <a:off x="6755407" y="1449060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7" name="Google Shape;247;p22"/>
          <p:cNvSpPr/>
          <p:nvPr/>
        </p:nvSpPr>
        <p:spPr>
          <a:xfrm>
            <a:off x="7648827" y="1442415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9" name="Google Shape;79;p14"/>
          <p:cNvSpPr txBox="1"/>
          <p:nvPr/>
        </p:nvSpPr>
        <p:spPr>
          <a:xfrm>
            <a:off x="6306425" y="150350"/>
            <a:ext cx="2412300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ENSU </a:t>
            </a:r>
            <a:r>
              <a:rPr lang="en-US" sz="1500" b="1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|</a:t>
            </a:r>
            <a:r>
              <a:rPr lang="en-US" sz="15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1500" b="1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oct-dic 2025</a:t>
            </a:r>
            <a:r>
              <a:rPr lang="en-US" sz="15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endParaRPr sz="1500">
              <a:solidFill>
                <a:srgbClr val="2E4D5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5006349" y="3499088"/>
            <a:ext cx="24510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Muy o algo efectivo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5006053" y="4003688"/>
            <a:ext cx="24510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Poco o nada efectivo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1210775" y="4407575"/>
            <a:ext cx="2800500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se sintió insegura</a:t>
            </a:r>
            <a:endParaRPr sz="2200">
              <a:solidFill>
                <a:srgbClr val="2E4D5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3"/>
          <p:cNvSpPr txBox="1"/>
          <p:nvPr/>
        </p:nvSpPr>
        <p:spPr>
          <a:xfrm>
            <a:off x="368075" y="146650"/>
            <a:ext cx="14328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Tláhuac</a:t>
            </a:r>
            <a:r>
              <a:rPr lang="en-US" sz="2600" b="1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endParaRPr sz="2600">
              <a:solidFill>
                <a:srgbClr val="2E4D5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pic>
        <p:nvPicPr>
          <p:cNvPr id="253" name="Google Shape;253;p23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638500" y="4804303"/>
            <a:ext cx="1361491" cy="3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04604" y="850750"/>
            <a:ext cx="2550749" cy="3377858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3"/>
          <p:cNvSpPr/>
          <p:nvPr/>
        </p:nvSpPr>
        <p:spPr>
          <a:xfrm>
            <a:off x="4044713" y="1442415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7" name="Google Shape;257;p23"/>
          <p:cNvSpPr txBox="1"/>
          <p:nvPr/>
        </p:nvSpPr>
        <p:spPr>
          <a:xfrm>
            <a:off x="3805304" y="859715"/>
            <a:ext cx="4953300" cy="4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BAD54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5 problemas más importantes reportados</a:t>
            </a:r>
            <a:endParaRPr sz="1900" b="1">
              <a:solidFill>
                <a:srgbClr val="BAD54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4877103" y="1442436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9" name="Google Shape;259;p23"/>
          <p:cNvSpPr/>
          <p:nvPr/>
        </p:nvSpPr>
        <p:spPr>
          <a:xfrm>
            <a:off x="5816263" y="1444180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0" name="Google Shape;260;p23"/>
          <p:cNvSpPr txBox="1"/>
          <p:nvPr/>
        </p:nvSpPr>
        <p:spPr>
          <a:xfrm>
            <a:off x="3805305" y="2644510"/>
            <a:ext cx="4920900" cy="7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BAD54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Percepción sobre la efectividad del gobierno para resolver problemáticas</a:t>
            </a:r>
            <a:endParaRPr sz="1900">
              <a:solidFill>
                <a:srgbClr val="BAD548"/>
              </a:solidFill>
            </a:endParaRPr>
          </a:p>
        </p:txBody>
      </p:sp>
      <p:cxnSp>
        <p:nvCxnSpPr>
          <p:cNvPr id="261" name="Google Shape;261;p23"/>
          <p:cNvCxnSpPr/>
          <p:nvPr/>
        </p:nvCxnSpPr>
        <p:spPr>
          <a:xfrm>
            <a:off x="3874255" y="2565100"/>
            <a:ext cx="4574700" cy="13200"/>
          </a:xfrm>
          <a:prstGeom prst="straightConnector1">
            <a:avLst/>
          </a:prstGeom>
          <a:noFill/>
          <a:ln w="28575" cap="flat" cmpd="sng">
            <a:solidFill>
              <a:srgbClr val="2E4D5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63" name="Google Shape;263;p2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950779" y="4066599"/>
            <a:ext cx="423300" cy="350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3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3912780" y="3592187"/>
            <a:ext cx="441339" cy="36552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3"/>
          <p:cNvSpPr/>
          <p:nvPr/>
        </p:nvSpPr>
        <p:spPr>
          <a:xfrm>
            <a:off x="6755407" y="1449060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8" name="Google Shape;268;p23"/>
          <p:cNvSpPr/>
          <p:nvPr/>
        </p:nvSpPr>
        <p:spPr>
          <a:xfrm>
            <a:off x="7648827" y="1442415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9" name="Google Shape;79;p14"/>
          <p:cNvSpPr txBox="1"/>
          <p:nvPr/>
        </p:nvSpPr>
        <p:spPr>
          <a:xfrm>
            <a:off x="6306425" y="150350"/>
            <a:ext cx="2412300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ENSU </a:t>
            </a:r>
            <a:r>
              <a:rPr lang="en-US" sz="1500" b="1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|</a:t>
            </a:r>
            <a:r>
              <a:rPr lang="en-US" sz="15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1500" b="1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oct-dic 2025</a:t>
            </a:r>
            <a:r>
              <a:rPr lang="en-US" sz="15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endParaRPr sz="1500">
              <a:solidFill>
                <a:srgbClr val="2E4D5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5006349" y="3499088"/>
            <a:ext cx="24510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Muy o algo efectivo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5006053" y="4003688"/>
            <a:ext cx="24510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Poco o nada efectivo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1210775" y="4407575"/>
            <a:ext cx="2800500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se sintió insegura</a:t>
            </a:r>
            <a:endParaRPr sz="2200">
              <a:solidFill>
                <a:srgbClr val="2E4D5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4"/>
          <p:cNvSpPr txBox="1"/>
          <p:nvPr/>
        </p:nvSpPr>
        <p:spPr>
          <a:xfrm>
            <a:off x="368075" y="146650"/>
            <a:ext cx="14460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Tlalpan </a:t>
            </a:r>
            <a:endParaRPr sz="2600">
              <a:solidFill>
                <a:srgbClr val="2E4D5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pic>
        <p:nvPicPr>
          <p:cNvPr id="274" name="Google Shape;274;p2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638500" y="4804303"/>
            <a:ext cx="1361491" cy="3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4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11249" y="850750"/>
            <a:ext cx="2550749" cy="3377858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4"/>
          <p:cNvSpPr/>
          <p:nvPr/>
        </p:nvSpPr>
        <p:spPr>
          <a:xfrm>
            <a:off x="4044713" y="1442415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8" name="Google Shape;278;p24"/>
          <p:cNvSpPr txBox="1"/>
          <p:nvPr/>
        </p:nvSpPr>
        <p:spPr>
          <a:xfrm>
            <a:off x="3805304" y="859715"/>
            <a:ext cx="4953300" cy="4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BAD54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5 problemas más importantes reportados</a:t>
            </a:r>
            <a:endParaRPr sz="1900" b="1">
              <a:solidFill>
                <a:srgbClr val="BAD54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279" name="Google Shape;279;p24"/>
          <p:cNvSpPr/>
          <p:nvPr/>
        </p:nvSpPr>
        <p:spPr>
          <a:xfrm>
            <a:off x="4877103" y="1442436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0" name="Google Shape;280;p24"/>
          <p:cNvSpPr/>
          <p:nvPr/>
        </p:nvSpPr>
        <p:spPr>
          <a:xfrm>
            <a:off x="5816263" y="1444180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1" name="Google Shape;281;p24"/>
          <p:cNvSpPr txBox="1"/>
          <p:nvPr/>
        </p:nvSpPr>
        <p:spPr>
          <a:xfrm>
            <a:off x="3805305" y="2644510"/>
            <a:ext cx="4920900" cy="7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BAD54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Percepción sobre la efectividad del gobierno para resolver problemáticas</a:t>
            </a:r>
            <a:endParaRPr sz="1900">
              <a:solidFill>
                <a:srgbClr val="BAD548"/>
              </a:solidFill>
            </a:endParaRPr>
          </a:p>
        </p:txBody>
      </p:sp>
      <p:cxnSp>
        <p:nvCxnSpPr>
          <p:cNvPr id="282" name="Google Shape;282;p24"/>
          <p:cNvCxnSpPr/>
          <p:nvPr/>
        </p:nvCxnSpPr>
        <p:spPr>
          <a:xfrm>
            <a:off x="3874255" y="2565100"/>
            <a:ext cx="4574700" cy="13200"/>
          </a:xfrm>
          <a:prstGeom prst="straightConnector1">
            <a:avLst/>
          </a:prstGeom>
          <a:noFill/>
          <a:ln w="28575" cap="flat" cmpd="sng">
            <a:solidFill>
              <a:srgbClr val="2E4D5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84" name="Google Shape;284;p24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950779" y="4066599"/>
            <a:ext cx="423300" cy="350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4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3912780" y="3592187"/>
            <a:ext cx="441339" cy="36552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4"/>
          <p:cNvSpPr/>
          <p:nvPr/>
        </p:nvSpPr>
        <p:spPr>
          <a:xfrm>
            <a:off x="6755407" y="1449060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9" name="Google Shape;289;p24"/>
          <p:cNvSpPr/>
          <p:nvPr/>
        </p:nvSpPr>
        <p:spPr>
          <a:xfrm>
            <a:off x="7648827" y="1442415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9" name="Google Shape;79;p14"/>
          <p:cNvSpPr txBox="1"/>
          <p:nvPr/>
        </p:nvSpPr>
        <p:spPr>
          <a:xfrm>
            <a:off x="6306425" y="150350"/>
            <a:ext cx="2412300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ENSU </a:t>
            </a:r>
            <a:r>
              <a:rPr lang="en-US" sz="1500" b="1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|</a:t>
            </a:r>
            <a:r>
              <a:rPr lang="en-US" sz="15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1500" b="1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oct-dic 2025</a:t>
            </a:r>
            <a:r>
              <a:rPr lang="en-US" sz="15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endParaRPr sz="1500">
              <a:solidFill>
                <a:srgbClr val="2E4D5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5006349" y="3499088"/>
            <a:ext cx="24510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Muy o algo efectivo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5006053" y="4003688"/>
            <a:ext cx="24510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Poco o nada efectivo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1210775" y="4407575"/>
            <a:ext cx="2800500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se sintió insegura</a:t>
            </a:r>
            <a:endParaRPr sz="2200">
              <a:solidFill>
                <a:srgbClr val="2E4D5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5"/>
          <p:cNvSpPr txBox="1"/>
          <p:nvPr/>
        </p:nvSpPr>
        <p:spPr>
          <a:xfrm>
            <a:off x="368075" y="146650"/>
            <a:ext cx="20310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Xochimilco</a:t>
            </a:r>
            <a:r>
              <a:rPr lang="en-US" sz="2600" b="1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endParaRPr sz="2600">
              <a:solidFill>
                <a:srgbClr val="2E4D5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pic>
        <p:nvPicPr>
          <p:cNvPr id="295" name="Google Shape;295;p2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638500" y="4804303"/>
            <a:ext cx="1361491" cy="3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04604" y="850750"/>
            <a:ext cx="2550749" cy="3377858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5"/>
          <p:cNvSpPr/>
          <p:nvPr/>
        </p:nvSpPr>
        <p:spPr>
          <a:xfrm>
            <a:off x="4044713" y="1442415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9" name="Google Shape;299;p25"/>
          <p:cNvSpPr txBox="1"/>
          <p:nvPr/>
        </p:nvSpPr>
        <p:spPr>
          <a:xfrm>
            <a:off x="3805304" y="859715"/>
            <a:ext cx="4953300" cy="4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BAD54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5 problemas más importantes reportados</a:t>
            </a:r>
            <a:endParaRPr sz="1900" b="1">
              <a:solidFill>
                <a:srgbClr val="BAD54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300" name="Google Shape;300;p25"/>
          <p:cNvSpPr/>
          <p:nvPr/>
        </p:nvSpPr>
        <p:spPr>
          <a:xfrm>
            <a:off x="4877103" y="1442436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1" name="Google Shape;301;p25"/>
          <p:cNvSpPr/>
          <p:nvPr/>
        </p:nvSpPr>
        <p:spPr>
          <a:xfrm>
            <a:off x="5816263" y="1444180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2" name="Google Shape;302;p25"/>
          <p:cNvSpPr txBox="1"/>
          <p:nvPr/>
        </p:nvSpPr>
        <p:spPr>
          <a:xfrm>
            <a:off x="3805305" y="2644510"/>
            <a:ext cx="4920900" cy="7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BAD54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Percepción sobre la efectividad del gobierno para resolver problemáticas</a:t>
            </a:r>
            <a:endParaRPr sz="1900">
              <a:solidFill>
                <a:srgbClr val="BAD548"/>
              </a:solidFill>
            </a:endParaRPr>
          </a:p>
        </p:txBody>
      </p:sp>
      <p:cxnSp>
        <p:nvCxnSpPr>
          <p:cNvPr id="303" name="Google Shape;303;p25"/>
          <p:cNvCxnSpPr/>
          <p:nvPr/>
        </p:nvCxnSpPr>
        <p:spPr>
          <a:xfrm>
            <a:off x="3874255" y="2565100"/>
            <a:ext cx="4574700" cy="13200"/>
          </a:xfrm>
          <a:prstGeom prst="straightConnector1">
            <a:avLst/>
          </a:prstGeom>
          <a:noFill/>
          <a:ln w="28575" cap="flat" cmpd="sng">
            <a:solidFill>
              <a:srgbClr val="2E4D5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05" name="Google Shape;305;p2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950779" y="4066599"/>
            <a:ext cx="423300" cy="350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5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3912780" y="3592187"/>
            <a:ext cx="441339" cy="36552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5"/>
          <p:cNvSpPr/>
          <p:nvPr/>
        </p:nvSpPr>
        <p:spPr>
          <a:xfrm>
            <a:off x="6755407" y="1449060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0" name="Google Shape;310;p25"/>
          <p:cNvSpPr/>
          <p:nvPr/>
        </p:nvSpPr>
        <p:spPr>
          <a:xfrm>
            <a:off x="7648827" y="1442415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9" name="Google Shape;79;p14"/>
          <p:cNvSpPr txBox="1"/>
          <p:nvPr/>
        </p:nvSpPr>
        <p:spPr>
          <a:xfrm>
            <a:off x="6306425" y="150350"/>
            <a:ext cx="2412300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ENSU </a:t>
            </a:r>
            <a:r>
              <a:rPr lang="en-US" sz="1500" b="1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|</a:t>
            </a:r>
            <a:r>
              <a:rPr lang="en-US" sz="15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1500" b="1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oct-dic 2025</a:t>
            </a:r>
            <a:r>
              <a:rPr lang="en-US" sz="15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endParaRPr sz="1500">
              <a:solidFill>
                <a:srgbClr val="2E4D5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5006349" y="3499088"/>
            <a:ext cx="24510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Muy o algo efectivo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5006053" y="4003688"/>
            <a:ext cx="24510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Poco o nada efectivo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1210775" y="4407575"/>
            <a:ext cx="2800500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se sintió insegura</a:t>
            </a:r>
            <a:endParaRPr sz="2200">
              <a:solidFill>
                <a:srgbClr val="2E4D5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6"/>
          <p:cNvSpPr txBox="1"/>
          <p:nvPr/>
        </p:nvSpPr>
        <p:spPr>
          <a:xfrm>
            <a:off x="368075" y="146650"/>
            <a:ext cx="23898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Benito Juárez </a:t>
            </a:r>
            <a:endParaRPr sz="2600">
              <a:solidFill>
                <a:srgbClr val="2E4D5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pic>
        <p:nvPicPr>
          <p:cNvPr id="316" name="Google Shape;316;p2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638500" y="4804303"/>
            <a:ext cx="1361491" cy="3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6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11249" y="850750"/>
            <a:ext cx="2550749" cy="3377858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6"/>
          <p:cNvSpPr/>
          <p:nvPr/>
        </p:nvSpPr>
        <p:spPr>
          <a:xfrm>
            <a:off x="4044713" y="1442415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0" name="Google Shape;320;p26"/>
          <p:cNvSpPr txBox="1"/>
          <p:nvPr/>
        </p:nvSpPr>
        <p:spPr>
          <a:xfrm>
            <a:off x="3805304" y="859715"/>
            <a:ext cx="4953300" cy="4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BAD54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5 problemas más importantes reportados</a:t>
            </a:r>
            <a:endParaRPr sz="1900" b="1">
              <a:solidFill>
                <a:srgbClr val="BAD54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321" name="Google Shape;321;p26"/>
          <p:cNvSpPr/>
          <p:nvPr/>
        </p:nvSpPr>
        <p:spPr>
          <a:xfrm>
            <a:off x="4877103" y="1442436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2" name="Google Shape;322;p26"/>
          <p:cNvSpPr/>
          <p:nvPr/>
        </p:nvSpPr>
        <p:spPr>
          <a:xfrm>
            <a:off x="5816263" y="1444180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3" name="Google Shape;323;p26"/>
          <p:cNvSpPr txBox="1"/>
          <p:nvPr/>
        </p:nvSpPr>
        <p:spPr>
          <a:xfrm>
            <a:off x="3805305" y="2644510"/>
            <a:ext cx="4920900" cy="7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BAD54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Percepción sobre la efectividad del gobierno para resolver problemáticas</a:t>
            </a:r>
            <a:endParaRPr sz="1900">
              <a:solidFill>
                <a:srgbClr val="BAD548"/>
              </a:solidFill>
            </a:endParaRPr>
          </a:p>
        </p:txBody>
      </p:sp>
      <p:cxnSp>
        <p:nvCxnSpPr>
          <p:cNvPr id="324" name="Google Shape;324;p26"/>
          <p:cNvCxnSpPr/>
          <p:nvPr/>
        </p:nvCxnSpPr>
        <p:spPr>
          <a:xfrm>
            <a:off x="3874255" y="2565100"/>
            <a:ext cx="4574700" cy="13200"/>
          </a:xfrm>
          <a:prstGeom prst="straightConnector1">
            <a:avLst/>
          </a:prstGeom>
          <a:noFill/>
          <a:ln w="28575" cap="flat" cmpd="sng">
            <a:solidFill>
              <a:srgbClr val="2E4D5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26" name="Google Shape;326;p2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950779" y="4066599"/>
            <a:ext cx="423300" cy="350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6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3912780" y="3592187"/>
            <a:ext cx="441339" cy="365525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6"/>
          <p:cNvSpPr/>
          <p:nvPr/>
        </p:nvSpPr>
        <p:spPr>
          <a:xfrm>
            <a:off x="6755407" y="1449060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1" name="Google Shape;331;p26"/>
          <p:cNvSpPr/>
          <p:nvPr/>
        </p:nvSpPr>
        <p:spPr>
          <a:xfrm>
            <a:off x="7648827" y="1442415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9" name="Google Shape;79;p14"/>
          <p:cNvSpPr txBox="1"/>
          <p:nvPr/>
        </p:nvSpPr>
        <p:spPr>
          <a:xfrm>
            <a:off x="6306425" y="150350"/>
            <a:ext cx="2412300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ENSU </a:t>
            </a:r>
            <a:r>
              <a:rPr lang="en-US" sz="1500" b="1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|</a:t>
            </a:r>
            <a:r>
              <a:rPr lang="en-US" sz="15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1500" b="1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oct-dic 2025</a:t>
            </a:r>
            <a:r>
              <a:rPr lang="en-US" sz="15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endParaRPr sz="1500">
              <a:solidFill>
                <a:srgbClr val="2E4D5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5006349" y="3499088"/>
            <a:ext cx="24510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Muy o algo efectivo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5006053" y="4003688"/>
            <a:ext cx="24510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Poco o nada efectivo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1210775" y="4407575"/>
            <a:ext cx="2800500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se sintió insegura</a:t>
            </a:r>
            <a:endParaRPr sz="2200">
              <a:solidFill>
                <a:srgbClr val="2E4D5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7"/>
          <p:cNvSpPr txBox="1"/>
          <p:nvPr/>
        </p:nvSpPr>
        <p:spPr>
          <a:xfrm>
            <a:off x="368075" y="146650"/>
            <a:ext cx="21438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Cuauhtémoc </a:t>
            </a:r>
            <a:endParaRPr sz="2600">
              <a:solidFill>
                <a:srgbClr val="2E4D5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pic>
        <p:nvPicPr>
          <p:cNvPr id="337" name="Google Shape;337;p27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638500" y="4804303"/>
            <a:ext cx="1361491" cy="3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2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11249" y="850750"/>
            <a:ext cx="2550749" cy="3377858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7"/>
          <p:cNvSpPr/>
          <p:nvPr/>
        </p:nvSpPr>
        <p:spPr>
          <a:xfrm>
            <a:off x="4044713" y="1442415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1" name="Google Shape;341;p27"/>
          <p:cNvSpPr txBox="1"/>
          <p:nvPr/>
        </p:nvSpPr>
        <p:spPr>
          <a:xfrm>
            <a:off x="3805304" y="859715"/>
            <a:ext cx="4953300" cy="4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BAD54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5 problemas más importantes reportados</a:t>
            </a:r>
            <a:endParaRPr sz="1900" b="1">
              <a:solidFill>
                <a:srgbClr val="BAD54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342" name="Google Shape;342;p27"/>
          <p:cNvSpPr/>
          <p:nvPr/>
        </p:nvSpPr>
        <p:spPr>
          <a:xfrm>
            <a:off x="4877103" y="1442436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3" name="Google Shape;343;p27"/>
          <p:cNvSpPr/>
          <p:nvPr/>
        </p:nvSpPr>
        <p:spPr>
          <a:xfrm>
            <a:off x="5816263" y="1444180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4" name="Google Shape;344;p27"/>
          <p:cNvSpPr txBox="1"/>
          <p:nvPr/>
        </p:nvSpPr>
        <p:spPr>
          <a:xfrm>
            <a:off x="3805305" y="2644510"/>
            <a:ext cx="4920900" cy="7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BAD54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Percepción sobre la efectividad del gobierno para resolver problemáticas</a:t>
            </a:r>
            <a:endParaRPr sz="1900">
              <a:solidFill>
                <a:srgbClr val="BAD548"/>
              </a:solidFill>
            </a:endParaRPr>
          </a:p>
        </p:txBody>
      </p:sp>
      <p:cxnSp>
        <p:nvCxnSpPr>
          <p:cNvPr id="345" name="Google Shape;345;p27"/>
          <p:cNvCxnSpPr/>
          <p:nvPr/>
        </p:nvCxnSpPr>
        <p:spPr>
          <a:xfrm>
            <a:off x="3874255" y="2565100"/>
            <a:ext cx="4574700" cy="13200"/>
          </a:xfrm>
          <a:prstGeom prst="straightConnector1">
            <a:avLst/>
          </a:prstGeom>
          <a:noFill/>
          <a:ln w="28575" cap="flat" cmpd="sng">
            <a:solidFill>
              <a:srgbClr val="2E4D5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47" name="Google Shape;347;p27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950779" y="4066599"/>
            <a:ext cx="423300" cy="350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7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3912780" y="3592187"/>
            <a:ext cx="441339" cy="3655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7"/>
          <p:cNvSpPr/>
          <p:nvPr/>
        </p:nvSpPr>
        <p:spPr>
          <a:xfrm>
            <a:off x="6755407" y="1449060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2" name="Google Shape;352;p27"/>
          <p:cNvSpPr/>
          <p:nvPr/>
        </p:nvSpPr>
        <p:spPr>
          <a:xfrm>
            <a:off x="7648827" y="1442415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9" name="Google Shape;79;p14"/>
          <p:cNvSpPr txBox="1"/>
          <p:nvPr/>
        </p:nvSpPr>
        <p:spPr>
          <a:xfrm>
            <a:off x="6306425" y="150350"/>
            <a:ext cx="2412300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ENSU </a:t>
            </a:r>
            <a:r>
              <a:rPr lang="en-US" sz="1500" b="1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|</a:t>
            </a:r>
            <a:r>
              <a:rPr lang="en-US" sz="15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1500" b="1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oct-dic 2025</a:t>
            </a:r>
            <a:r>
              <a:rPr lang="en-US" sz="15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endParaRPr sz="1500">
              <a:solidFill>
                <a:srgbClr val="2E4D5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5006349" y="3499088"/>
            <a:ext cx="24510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Muy o algo efectivo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5006053" y="4003688"/>
            <a:ext cx="24510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Poco o nada efectivo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1210775" y="4407575"/>
            <a:ext cx="2800500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se sintió insegura</a:t>
            </a:r>
            <a:endParaRPr sz="2200">
              <a:solidFill>
                <a:srgbClr val="2E4D5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8"/>
          <p:cNvSpPr txBox="1"/>
          <p:nvPr/>
        </p:nvSpPr>
        <p:spPr>
          <a:xfrm>
            <a:off x="368075" y="146650"/>
            <a:ext cx="26223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Miguel Hidalgo </a:t>
            </a:r>
            <a:endParaRPr sz="2600">
              <a:solidFill>
                <a:srgbClr val="2E4D5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pic>
        <p:nvPicPr>
          <p:cNvPr id="358" name="Google Shape;358;p28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638500" y="4804303"/>
            <a:ext cx="1361491" cy="3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28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11249" y="850750"/>
            <a:ext cx="2550749" cy="3377858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28"/>
          <p:cNvSpPr/>
          <p:nvPr/>
        </p:nvSpPr>
        <p:spPr>
          <a:xfrm>
            <a:off x="4044713" y="1442415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2" name="Google Shape;362;p28"/>
          <p:cNvSpPr txBox="1"/>
          <p:nvPr/>
        </p:nvSpPr>
        <p:spPr>
          <a:xfrm>
            <a:off x="3805304" y="859715"/>
            <a:ext cx="4953300" cy="4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BAD54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5 problemas más importantes reportados</a:t>
            </a:r>
            <a:endParaRPr sz="1900" b="1">
              <a:solidFill>
                <a:srgbClr val="BAD54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363" name="Google Shape;363;p28"/>
          <p:cNvSpPr/>
          <p:nvPr/>
        </p:nvSpPr>
        <p:spPr>
          <a:xfrm>
            <a:off x="4877103" y="1442436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4" name="Google Shape;364;p28"/>
          <p:cNvSpPr/>
          <p:nvPr/>
        </p:nvSpPr>
        <p:spPr>
          <a:xfrm>
            <a:off x="5816263" y="1444180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5" name="Google Shape;365;p28"/>
          <p:cNvSpPr txBox="1"/>
          <p:nvPr/>
        </p:nvSpPr>
        <p:spPr>
          <a:xfrm>
            <a:off x="3805305" y="2644510"/>
            <a:ext cx="4920900" cy="7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BAD54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Percepción sobre la efectividad del gobierno para resolver problemáticas</a:t>
            </a:r>
            <a:endParaRPr sz="1900">
              <a:solidFill>
                <a:srgbClr val="BAD548"/>
              </a:solidFill>
            </a:endParaRPr>
          </a:p>
        </p:txBody>
      </p:sp>
      <p:cxnSp>
        <p:nvCxnSpPr>
          <p:cNvPr id="366" name="Google Shape;366;p28"/>
          <p:cNvCxnSpPr/>
          <p:nvPr/>
        </p:nvCxnSpPr>
        <p:spPr>
          <a:xfrm>
            <a:off x="3874255" y="2565100"/>
            <a:ext cx="4574700" cy="13200"/>
          </a:xfrm>
          <a:prstGeom prst="straightConnector1">
            <a:avLst/>
          </a:prstGeom>
          <a:noFill/>
          <a:ln w="28575" cap="flat" cmpd="sng">
            <a:solidFill>
              <a:srgbClr val="2E4D5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68" name="Google Shape;368;p28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950779" y="4066599"/>
            <a:ext cx="423300" cy="350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28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3912780" y="3592187"/>
            <a:ext cx="441339" cy="365525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8"/>
          <p:cNvSpPr/>
          <p:nvPr/>
        </p:nvSpPr>
        <p:spPr>
          <a:xfrm>
            <a:off x="6755407" y="1449060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3" name="Google Shape;373;p28"/>
          <p:cNvSpPr/>
          <p:nvPr/>
        </p:nvSpPr>
        <p:spPr>
          <a:xfrm>
            <a:off x="7648827" y="1442415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9" name="Google Shape;79;p14"/>
          <p:cNvSpPr txBox="1"/>
          <p:nvPr/>
        </p:nvSpPr>
        <p:spPr>
          <a:xfrm>
            <a:off x="6306425" y="150350"/>
            <a:ext cx="2412300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ENSU </a:t>
            </a:r>
            <a:r>
              <a:rPr lang="en-US" sz="1500" b="1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|</a:t>
            </a:r>
            <a:r>
              <a:rPr lang="en-US" sz="15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1500" b="1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oct-dic 2025</a:t>
            </a:r>
            <a:r>
              <a:rPr lang="en-US" sz="15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endParaRPr sz="1500">
              <a:solidFill>
                <a:srgbClr val="2E4D5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5006349" y="3499088"/>
            <a:ext cx="24510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Muy o algo efectivo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5006053" y="4003688"/>
            <a:ext cx="24510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Poco o nada efectivo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1210775" y="4407575"/>
            <a:ext cx="2800500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se sintió insegura</a:t>
            </a:r>
            <a:endParaRPr sz="2200">
              <a:solidFill>
                <a:srgbClr val="2E4D5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9"/>
          <p:cNvSpPr txBox="1"/>
          <p:nvPr/>
        </p:nvSpPr>
        <p:spPr>
          <a:xfrm>
            <a:off x="368300" y="146685"/>
            <a:ext cx="4406900" cy="551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Venustiano Carranza</a:t>
            </a:r>
            <a:r>
              <a:rPr lang="en-US" sz="2600" b="1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endParaRPr sz="2600">
              <a:solidFill>
                <a:srgbClr val="2E4D5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pic>
        <p:nvPicPr>
          <p:cNvPr id="379" name="Google Shape;379;p29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638500" y="4804303"/>
            <a:ext cx="1361491" cy="3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29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11249" y="850750"/>
            <a:ext cx="2550749" cy="3377858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9"/>
          <p:cNvSpPr/>
          <p:nvPr/>
        </p:nvSpPr>
        <p:spPr>
          <a:xfrm>
            <a:off x="4044713" y="1442415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3" name="Google Shape;383;p29"/>
          <p:cNvSpPr txBox="1"/>
          <p:nvPr/>
        </p:nvSpPr>
        <p:spPr>
          <a:xfrm>
            <a:off x="3805304" y="859715"/>
            <a:ext cx="4953300" cy="4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BAD54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5 problemas más importantes reportados</a:t>
            </a:r>
            <a:endParaRPr sz="1900" b="1">
              <a:solidFill>
                <a:srgbClr val="BAD54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384" name="Google Shape;384;p29"/>
          <p:cNvSpPr/>
          <p:nvPr/>
        </p:nvSpPr>
        <p:spPr>
          <a:xfrm>
            <a:off x="4877103" y="1442436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5" name="Google Shape;385;p29"/>
          <p:cNvSpPr/>
          <p:nvPr/>
        </p:nvSpPr>
        <p:spPr>
          <a:xfrm>
            <a:off x="5816263" y="1444180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6" name="Google Shape;386;p29"/>
          <p:cNvSpPr txBox="1"/>
          <p:nvPr/>
        </p:nvSpPr>
        <p:spPr>
          <a:xfrm>
            <a:off x="3805305" y="2644510"/>
            <a:ext cx="4920900" cy="7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BAD54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Percepción sobre la efectividad del gobierno para resolver problemáticas</a:t>
            </a:r>
            <a:endParaRPr sz="1900">
              <a:solidFill>
                <a:srgbClr val="BAD548"/>
              </a:solidFill>
            </a:endParaRPr>
          </a:p>
        </p:txBody>
      </p:sp>
      <p:cxnSp>
        <p:nvCxnSpPr>
          <p:cNvPr id="387" name="Google Shape;387;p29"/>
          <p:cNvCxnSpPr/>
          <p:nvPr/>
        </p:nvCxnSpPr>
        <p:spPr>
          <a:xfrm>
            <a:off x="3874255" y="2565100"/>
            <a:ext cx="4574700" cy="13200"/>
          </a:xfrm>
          <a:prstGeom prst="straightConnector1">
            <a:avLst/>
          </a:prstGeom>
          <a:noFill/>
          <a:ln w="28575" cap="flat" cmpd="sng">
            <a:solidFill>
              <a:srgbClr val="2E4D5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89" name="Google Shape;389;p29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950779" y="4066599"/>
            <a:ext cx="423300" cy="350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29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3912780" y="3592187"/>
            <a:ext cx="441339" cy="365525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29"/>
          <p:cNvSpPr/>
          <p:nvPr/>
        </p:nvSpPr>
        <p:spPr>
          <a:xfrm>
            <a:off x="6755407" y="1449060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4" name="Google Shape;394;p29"/>
          <p:cNvSpPr/>
          <p:nvPr/>
        </p:nvSpPr>
        <p:spPr>
          <a:xfrm>
            <a:off x="7648827" y="1442415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9" name="Google Shape;79;p14"/>
          <p:cNvSpPr txBox="1"/>
          <p:nvPr/>
        </p:nvSpPr>
        <p:spPr>
          <a:xfrm>
            <a:off x="6306425" y="150350"/>
            <a:ext cx="2412300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ENSU </a:t>
            </a:r>
            <a:r>
              <a:rPr lang="en-US" sz="1500" b="1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|</a:t>
            </a:r>
            <a:r>
              <a:rPr lang="en-US" sz="15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1500" b="1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oct-dic 2025</a:t>
            </a:r>
            <a:r>
              <a:rPr lang="en-US" sz="15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endParaRPr sz="1500">
              <a:solidFill>
                <a:srgbClr val="2E4D5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5006349" y="3499088"/>
            <a:ext cx="24510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Muy o algo efectivo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5006053" y="4003688"/>
            <a:ext cx="24510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Poco o nada efectivo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1210775" y="4407575"/>
            <a:ext cx="2800500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se sintió insegura</a:t>
            </a:r>
            <a:endParaRPr sz="2200">
              <a:solidFill>
                <a:srgbClr val="2E4D5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0"/>
          <p:cNvSpPr/>
          <p:nvPr/>
        </p:nvSpPr>
        <p:spPr>
          <a:xfrm>
            <a:off x="378773" y="887964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0" name="Google Shape;400;p30"/>
          <p:cNvSpPr txBox="1"/>
          <p:nvPr/>
        </p:nvSpPr>
        <p:spPr>
          <a:xfrm>
            <a:off x="362700" y="136025"/>
            <a:ext cx="8418600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2"/>
                </a:solidFill>
              </a:rPr>
              <a:t>Simbología *</a:t>
            </a:r>
            <a:endParaRPr sz="2400" b="1">
              <a:solidFill>
                <a:schemeClr val="dk2"/>
              </a:solidFill>
            </a:endParaRPr>
          </a:p>
        </p:txBody>
      </p:sp>
      <p:sp>
        <p:nvSpPr>
          <p:cNvPr id="401" name="Google Shape;401;p30"/>
          <p:cNvSpPr txBox="1"/>
          <p:nvPr/>
        </p:nvSpPr>
        <p:spPr>
          <a:xfrm>
            <a:off x="1107334" y="900000"/>
            <a:ext cx="3392700" cy="4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500">
                <a:solidFill>
                  <a:schemeClr val="dk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Fallas y fugas en el suministro de agua potable</a:t>
            </a:r>
            <a:endParaRPr sz="1500">
              <a:solidFill>
                <a:schemeClr val="dk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402" name="Google Shape;402;p30"/>
          <p:cNvSpPr/>
          <p:nvPr/>
        </p:nvSpPr>
        <p:spPr>
          <a:xfrm>
            <a:off x="371684" y="1585283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3" name="Google Shape;403;p30"/>
          <p:cNvSpPr txBox="1"/>
          <p:nvPr/>
        </p:nvSpPr>
        <p:spPr>
          <a:xfrm>
            <a:off x="1103472" y="1597316"/>
            <a:ext cx="3392700" cy="4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Deficiencias en la red pública de drenaje</a:t>
            </a:r>
            <a:endParaRPr sz="1500">
              <a:solidFill>
                <a:schemeClr val="dk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404" name="Google Shape;404;p30"/>
          <p:cNvSpPr/>
          <p:nvPr/>
        </p:nvSpPr>
        <p:spPr>
          <a:xfrm>
            <a:off x="371241" y="2282601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5" name="Google Shape;405;p30"/>
          <p:cNvSpPr txBox="1"/>
          <p:nvPr/>
        </p:nvSpPr>
        <p:spPr>
          <a:xfrm>
            <a:off x="1103231" y="2294632"/>
            <a:ext cx="3392700" cy="4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500">
                <a:solidFill>
                  <a:schemeClr val="dk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Coladeras tapadas por acumulación de desechos</a:t>
            </a:r>
            <a:endParaRPr sz="1500">
              <a:solidFill>
                <a:schemeClr val="dk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406" name="Google Shape;406;p30"/>
          <p:cNvSpPr/>
          <p:nvPr/>
        </p:nvSpPr>
        <p:spPr>
          <a:xfrm>
            <a:off x="358841" y="2977670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7" name="Google Shape;407;p30"/>
          <p:cNvSpPr txBox="1"/>
          <p:nvPr/>
        </p:nvSpPr>
        <p:spPr>
          <a:xfrm>
            <a:off x="1096475" y="2989699"/>
            <a:ext cx="3392700" cy="4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Falta de tratamiento de aguas residuales</a:t>
            </a:r>
            <a:endParaRPr sz="1500">
              <a:solidFill>
                <a:schemeClr val="dk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408" name="Google Shape;408;p30"/>
          <p:cNvSpPr/>
          <p:nvPr/>
        </p:nvSpPr>
        <p:spPr>
          <a:xfrm>
            <a:off x="358841" y="3683770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9" name="Google Shape;409;p30"/>
          <p:cNvSpPr txBox="1"/>
          <p:nvPr/>
        </p:nvSpPr>
        <p:spPr>
          <a:xfrm>
            <a:off x="1096475" y="3695796"/>
            <a:ext cx="3392700" cy="4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Alumbrado público insuficiente</a:t>
            </a:r>
            <a:endParaRPr sz="1500">
              <a:solidFill>
                <a:schemeClr val="dk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410" name="Google Shape;410;p30"/>
          <p:cNvSpPr/>
          <p:nvPr/>
        </p:nvSpPr>
        <p:spPr>
          <a:xfrm>
            <a:off x="4804123" y="897989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1" name="Google Shape;411;p30"/>
          <p:cNvSpPr txBox="1"/>
          <p:nvPr/>
        </p:nvSpPr>
        <p:spPr>
          <a:xfrm>
            <a:off x="5532684" y="910025"/>
            <a:ext cx="3392700" cy="4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500">
                <a:solidFill>
                  <a:schemeClr val="dk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Ineficiencia en el servicio de limpia</a:t>
            </a:r>
            <a:endParaRPr sz="1500">
              <a:solidFill>
                <a:schemeClr val="dk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500">
                <a:solidFill>
                  <a:schemeClr val="dk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y recolección de basura</a:t>
            </a:r>
            <a:endParaRPr sz="1500">
              <a:solidFill>
                <a:schemeClr val="dk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pic>
        <p:nvPicPr>
          <p:cNvPr id="412" name="Google Shape;412;p30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4864977" y="962189"/>
            <a:ext cx="423300" cy="42330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30"/>
          <p:cNvSpPr/>
          <p:nvPr/>
        </p:nvSpPr>
        <p:spPr>
          <a:xfrm>
            <a:off x="4797034" y="1595308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4" name="Google Shape;414;p30"/>
          <p:cNvSpPr txBox="1"/>
          <p:nvPr/>
        </p:nvSpPr>
        <p:spPr>
          <a:xfrm>
            <a:off x="5528822" y="1607341"/>
            <a:ext cx="3392700" cy="4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500">
                <a:solidFill>
                  <a:schemeClr val="dk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Mercados y centrales de abasto en mal estado</a:t>
            </a:r>
            <a:endParaRPr sz="1500">
              <a:solidFill>
                <a:schemeClr val="dk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415" name="Google Shape;415;p30"/>
          <p:cNvSpPr/>
          <p:nvPr/>
        </p:nvSpPr>
        <p:spPr>
          <a:xfrm>
            <a:off x="4796591" y="2292626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6" name="Google Shape;416;p30"/>
          <p:cNvSpPr txBox="1"/>
          <p:nvPr/>
        </p:nvSpPr>
        <p:spPr>
          <a:xfrm>
            <a:off x="5528575" y="2304650"/>
            <a:ext cx="3615300" cy="4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500">
                <a:solidFill>
                  <a:schemeClr val="dk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Calles y avenidas con embotellamientos frecuentes</a:t>
            </a:r>
            <a:endParaRPr sz="1500">
              <a:solidFill>
                <a:schemeClr val="dk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417" name="Google Shape;417;p30"/>
          <p:cNvSpPr/>
          <p:nvPr/>
        </p:nvSpPr>
        <p:spPr>
          <a:xfrm>
            <a:off x="4784191" y="2987695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8" name="Google Shape;418;p30"/>
          <p:cNvSpPr txBox="1"/>
          <p:nvPr/>
        </p:nvSpPr>
        <p:spPr>
          <a:xfrm>
            <a:off x="5521825" y="2999724"/>
            <a:ext cx="3392700" cy="4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500">
                <a:solidFill>
                  <a:schemeClr val="dk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Problemas de salud derivados del manejo inadecuado de los rastros</a:t>
            </a:r>
            <a:endParaRPr sz="1500">
              <a:solidFill>
                <a:schemeClr val="dk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419" name="Google Shape;419;p30"/>
          <p:cNvSpPr/>
          <p:nvPr/>
        </p:nvSpPr>
        <p:spPr>
          <a:xfrm>
            <a:off x="4784191" y="3693795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20" name="Google Shape;420;p30"/>
          <p:cNvSpPr txBox="1"/>
          <p:nvPr/>
        </p:nvSpPr>
        <p:spPr>
          <a:xfrm>
            <a:off x="5521825" y="3705821"/>
            <a:ext cx="3392700" cy="4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500">
                <a:solidFill>
                  <a:schemeClr val="dk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Baches en calles y avenidas</a:t>
            </a:r>
            <a:endParaRPr sz="1500">
              <a:solidFill>
                <a:schemeClr val="dk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pic>
        <p:nvPicPr>
          <p:cNvPr id="421" name="Google Shape;421;p30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466775" y="2366163"/>
            <a:ext cx="382324" cy="382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3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66763" y="1669971"/>
            <a:ext cx="382337" cy="38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30"/>
          <p:cNvPicPr preferRelativeResize="0"/>
          <p:nvPr/>
        </p:nvPicPr>
        <p:blipFill>
          <a:blip r:embed="rId4"/>
          <a:stretch>
            <a:fillRect/>
          </a:stretch>
        </p:blipFill>
        <p:spPr>
          <a:xfrm flipH="1">
            <a:off x="446288" y="962200"/>
            <a:ext cx="423300" cy="42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3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4862048" y="3759755"/>
            <a:ext cx="382324" cy="382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0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452327" y="3066027"/>
            <a:ext cx="382324" cy="382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30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419125" y="3778488"/>
            <a:ext cx="382324" cy="382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30"/>
          <p:cNvPicPr preferRelativeResize="0"/>
          <p:nvPr/>
        </p:nvPicPr>
        <p:blipFill>
          <a:blip r:embed="rId8"/>
          <a:stretch>
            <a:fillRect/>
          </a:stretch>
        </p:blipFill>
        <p:spPr>
          <a:xfrm>
            <a:off x="4892113" y="1686244"/>
            <a:ext cx="382324" cy="382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30"/>
          <p:cNvPicPr preferRelativeResize="0"/>
          <p:nvPr/>
        </p:nvPicPr>
        <p:blipFill>
          <a:blip r:embed="rId9"/>
          <a:stretch>
            <a:fillRect/>
          </a:stretch>
        </p:blipFill>
        <p:spPr>
          <a:xfrm>
            <a:off x="4877351" y="2378858"/>
            <a:ext cx="382324" cy="382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30"/>
          <p:cNvPicPr preferRelativeResize="0"/>
          <p:nvPr/>
        </p:nvPicPr>
        <p:blipFill>
          <a:blip r:embed="rId10"/>
          <a:stretch>
            <a:fillRect/>
          </a:stretch>
        </p:blipFill>
        <p:spPr>
          <a:xfrm>
            <a:off x="4851700" y="3057413"/>
            <a:ext cx="423300" cy="42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30"/>
          <p:cNvPicPr preferRelativeResize="0"/>
          <p:nvPr/>
        </p:nvPicPr>
        <p:blipFill>
          <a:blip r:embed="rId11"/>
          <a:stretch>
            <a:fillRect/>
          </a:stretch>
        </p:blipFill>
        <p:spPr>
          <a:xfrm>
            <a:off x="7638500" y="4804303"/>
            <a:ext cx="1361491" cy="300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1" name="Google Shape;431;p30"/>
          <p:cNvCxnSpPr/>
          <p:nvPr/>
        </p:nvCxnSpPr>
        <p:spPr>
          <a:xfrm flipH="1">
            <a:off x="4472150" y="810725"/>
            <a:ext cx="20100" cy="3442500"/>
          </a:xfrm>
          <a:prstGeom prst="straightConnector1">
            <a:avLst/>
          </a:prstGeom>
          <a:noFill/>
          <a:ln w="38100" cap="flat" cmpd="sng">
            <a:solidFill>
              <a:srgbClr val="2E4D5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2" name="Google Shape;432;p30"/>
          <p:cNvSpPr txBox="1"/>
          <p:nvPr/>
        </p:nvSpPr>
        <p:spPr>
          <a:xfrm>
            <a:off x="362700" y="4655696"/>
            <a:ext cx="3392700" cy="4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* </a:t>
            </a:r>
            <a:r>
              <a:rPr lang="en-US" sz="1500">
                <a:solidFill>
                  <a:schemeClr val="dk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Ver créditos de simbología</a:t>
            </a:r>
            <a:endParaRPr sz="1500">
              <a:solidFill>
                <a:schemeClr val="dk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433" name="Google Shape;433;p30"/>
          <p:cNvSpPr txBox="1"/>
          <p:nvPr/>
        </p:nvSpPr>
        <p:spPr>
          <a:xfrm>
            <a:off x="6306425" y="150350"/>
            <a:ext cx="2412300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ENSU </a:t>
            </a:r>
            <a:r>
              <a:rPr lang="en-US" sz="1500" b="1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|</a:t>
            </a:r>
            <a:r>
              <a:rPr lang="en-US" sz="15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1500" b="1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oct-nov 2025</a:t>
            </a:r>
            <a:r>
              <a:rPr lang="en-US" sz="15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endParaRPr sz="1500">
              <a:solidFill>
                <a:srgbClr val="2E4D5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1"/>
          <p:cNvSpPr/>
          <p:nvPr/>
        </p:nvSpPr>
        <p:spPr>
          <a:xfrm>
            <a:off x="378773" y="887964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9" name="Google Shape;439;p31"/>
          <p:cNvSpPr txBox="1"/>
          <p:nvPr/>
        </p:nvSpPr>
        <p:spPr>
          <a:xfrm>
            <a:off x="362700" y="136025"/>
            <a:ext cx="8418600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2"/>
                </a:solidFill>
              </a:rPr>
              <a:t>Simbología *</a:t>
            </a:r>
            <a:endParaRPr sz="2400" b="1">
              <a:solidFill>
                <a:schemeClr val="dk2"/>
              </a:solidFill>
            </a:endParaRPr>
          </a:p>
        </p:txBody>
      </p:sp>
      <p:sp>
        <p:nvSpPr>
          <p:cNvPr id="440" name="Google Shape;440;p31"/>
          <p:cNvSpPr txBox="1"/>
          <p:nvPr/>
        </p:nvSpPr>
        <p:spPr>
          <a:xfrm>
            <a:off x="1107334" y="900000"/>
            <a:ext cx="3392700" cy="4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Parques y jardines descuidados</a:t>
            </a:r>
            <a:endParaRPr sz="1500">
              <a:solidFill>
                <a:schemeClr val="dk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441" name="Google Shape;441;p31"/>
          <p:cNvSpPr/>
          <p:nvPr/>
        </p:nvSpPr>
        <p:spPr>
          <a:xfrm>
            <a:off x="371684" y="1585283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42" name="Google Shape;442;p31"/>
          <p:cNvSpPr txBox="1"/>
          <p:nvPr/>
        </p:nvSpPr>
        <p:spPr>
          <a:xfrm>
            <a:off x="1103472" y="1597316"/>
            <a:ext cx="3392700" cy="4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500">
                <a:solidFill>
                  <a:schemeClr val="dk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Delincuencia (robos, extorsiones,</a:t>
            </a:r>
            <a:endParaRPr sz="1500">
              <a:solidFill>
                <a:schemeClr val="dk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500">
                <a:solidFill>
                  <a:schemeClr val="dk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secuestros, fraudes, etcétera)</a:t>
            </a:r>
            <a:endParaRPr sz="1500">
              <a:solidFill>
                <a:schemeClr val="dk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443" name="Google Shape;443;p31"/>
          <p:cNvSpPr/>
          <p:nvPr/>
        </p:nvSpPr>
        <p:spPr>
          <a:xfrm>
            <a:off x="371241" y="2282601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44" name="Google Shape;444;p31"/>
          <p:cNvSpPr txBox="1"/>
          <p:nvPr/>
        </p:nvSpPr>
        <p:spPr>
          <a:xfrm>
            <a:off x="1103231" y="2294632"/>
            <a:ext cx="3392700" cy="4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500">
                <a:solidFill>
                  <a:schemeClr val="dk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Servicio de transporte público deficiente</a:t>
            </a:r>
            <a:endParaRPr sz="1500">
              <a:solidFill>
                <a:schemeClr val="dk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445" name="Google Shape;445;p31"/>
          <p:cNvSpPr/>
          <p:nvPr/>
        </p:nvSpPr>
        <p:spPr>
          <a:xfrm>
            <a:off x="358841" y="2977670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46" name="Google Shape;446;p31"/>
          <p:cNvSpPr txBox="1"/>
          <p:nvPr/>
        </p:nvSpPr>
        <p:spPr>
          <a:xfrm>
            <a:off x="1096475" y="2989699"/>
            <a:ext cx="3392700" cy="4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500">
                <a:solidFill>
                  <a:schemeClr val="dk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Hospitales saturados o con servicio</a:t>
            </a:r>
            <a:endParaRPr sz="1500">
              <a:solidFill>
                <a:schemeClr val="dk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deficiente </a:t>
            </a:r>
            <a:endParaRPr sz="1500">
              <a:solidFill>
                <a:schemeClr val="dk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447" name="Google Shape;447;p31"/>
          <p:cNvSpPr/>
          <p:nvPr/>
        </p:nvSpPr>
        <p:spPr>
          <a:xfrm>
            <a:off x="358841" y="3683770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48" name="Google Shape;448;p31"/>
          <p:cNvSpPr txBox="1"/>
          <p:nvPr/>
        </p:nvSpPr>
        <p:spPr>
          <a:xfrm>
            <a:off x="1096475" y="3695796"/>
            <a:ext cx="3392700" cy="4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Otro</a:t>
            </a:r>
            <a:endParaRPr sz="1500">
              <a:solidFill>
                <a:schemeClr val="dk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449" name="Google Shape;449;p31"/>
          <p:cNvSpPr/>
          <p:nvPr/>
        </p:nvSpPr>
        <p:spPr>
          <a:xfrm>
            <a:off x="4804123" y="897989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0" name="Google Shape;450;p31"/>
          <p:cNvSpPr txBox="1"/>
          <p:nvPr/>
        </p:nvSpPr>
        <p:spPr>
          <a:xfrm>
            <a:off x="5532684" y="910025"/>
            <a:ext cx="3392700" cy="4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Ninguno</a:t>
            </a:r>
            <a:endParaRPr sz="1500">
              <a:solidFill>
                <a:schemeClr val="dk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451" name="Google Shape;451;p31"/>
          <p:cNvSpPr/>
          <p:nvPr/>
        </p:nvSpPr>
        <p:spPr>
          <a:xfrm>
            <a:off x="4797034" y="1595308"/>
            <a:ext cx="558300" cy="551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2" name="Google Shape;452;p31"/>
          <p:cNvSpPr txBox="1"/>
          <p:nvPr/>
        </p:nvSpPr>
        <p:spPr>
          <a:xfrm>
            <a:off x="5528822" y="1607341"/>
            <a:ext cx="3392700" cy="4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No sabe / No responde</a:t>
            </a:r>
            <a:endParaRPr sz="1500">
              <a:solidFill>
                <a:schemeClr val="dk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pic>
        <p:nvPicPr>
          <p:cNvPr id="453" name="Google Shape;453;p31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479451" y="985352"/>
            <a:ext cx="356950" cy="35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31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455064" y="2361999"/>
            <a:ext cx="390675" cy="39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31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42653" y="3063710"/>
            <a:ext cx="390675" cy="390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31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4897708" y="995367"/>
            <a:ext cx="356950" cy="356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31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4897708" y="1692667"/>
            <a:ext cx="356950" cy="356947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31"/>
          <p:cNvSpPr txBox="1"/>
          <p:nvPr/>
        </p:nvSpPr>
        <p:spPr>
          <a:xfrm>
            <a:off x="465175" y="3701479"/>
            <a:ext cx="390600" cy="4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?</a:t>
            </a:r>
            <a:endParaRPr sz="2400" b="1">
              <a:solidFill>
                <a:schemeClr val="dk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pic>
        <p:nvPicPr>
          <p:cNvPr id="460" name="Google Shape;460;p31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7638500" y="4804303"/>
            <a:ext cx="1361491" cy="300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1" name="Google Shape;461;p31"/>
          <p:cNvCxnSpPr/>
          <p:nvPr/>
        </p:nvCxnSpPr>
        <p:spPr>
          <a:xfrm flipH="1">
            <a:off x="4472150" y="810725"/>
            <a:ext cx="20100" cy="3442500"/>
          </a:xfrm>
          <a:prstGeom prst="straightConnector1">
            <a:avLst/>
          </a:prstGeom>
          <a:noFill/>
          <a:ln w="38100" cap="flat" cmpd="sng">
            <a:solidFill>
              <a:srgbClr val="2E4D5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2" name="Google Shape;462;p31"/>
          <p:cNvSpPr txBox="1"/>
          <p:nvPr/>
        </p:nvSpPr>
        <p:spPr>
          <a:xfrm>
            <a:off x="362700" y="4655696"/>
            <a:ext cx="3392700" cy="4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* Ver créditos de simbología</a:t>
            </a:r>
            <a:endParaRPr sz="1500">
              <a:solidFill>
                <a:schemeClr val="dk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463" name="Google Shape;463;p31"/>
          <p:cNvSpPr txBox="1"/>
          <p:nvPr/>
        </p:nvSpPr>
        <p:spPr>
          <a:xfrm>
            <a:off x="6306425" y="150350"/>
            <a:ext cx="2412300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ENSU </a:t>
            </a:r>
            <a:r>
              <a:rPr lang="en-US" sz="1500" b="1">
                <a:solidFill>
                  <a:schemeClr val="accent3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|</a:t>
            </a:r>
            <a:r>
              <a:rPr lang="en-US" sz="15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-US" sz="1500" b="1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oct-nov 2025</a:t>
            </a:r>
            <a:r>
              <a:rPr lang="en-US" sz="1500">
                <a:solidFill>
                  <a:srgbClr val="2E4D58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endParaRPr sz="1500">
              <a:solidFill>
                <a:srgbClr val="2E4D58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pic>
        <p:nvPicPr>
          <p:cNvPr id="1" name="Picture 0" descr="delit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295" y="1614170"/>
            <a:ext cx="426085" cy="42608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2"/>
          <p:cNvSpPr txBox="1"/>
          <p:nvPr/>
        </p:nvSpPr>
        <p:spPr>
          <a:xfrm>
            <a:off x="362700" y="136025"/>
            <a:ext cx="8418600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chemeClr val="dk2"/>
                </a:solidFill>
              </a:rPr>
              <a:t>Créditos por simbología </a:t>
            </a:r>
            <a:endParaRPr sz="2700" b="1">
              <a:solidFill>
                <a:schemeClr val="dk2"/>
              </a:solidFill>
            </a:endParaRPr>
          </a:p>
        </p:txBody>
      </p:sp>
      <p:sp>
        <p:nvSpPr>
          <p:cNvPr id="469" name="Google Shape;469;p32"/>
          <p:cNvSpPr txBox="1"/>
          <p:nvPr/>
        </p:nvSpPr>
        <p:spPr>
          <a:xfrm>
            <a:off x="362700" y="864150"/>
            <a:ext cx="7066800" cy="28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 u="sng">
                <a:solidFill>
                  <a:schemeClr val="hlink"/>
                </a:solidFill>
                <a:hlinkClick r:id="rId1"/>
              </a:rPr>
              <a:t>https://www.flaticon.es/autores/chattapat</a:t>
            </a:r>
            <a:endParaRPr sz="1500"/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 u="sng">
                <a:solidFill>
                  <a:schemeClr val="hlink"/>
                </a:solidFill>
                <a:hlinkClick r:id="rId2"/>
              </a:rPr>
              <a:t>https://www.flaticon.es/autores/peerapak-takpho</a:t>
            </a:r>
            <a:r>
              <a:rPr lang="en-US" sz="1500"/>
              <a:t> </a:t>
            </a:r>
            <a:endParaRPr sz="1500"/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 u="sng">
                <a:solidFill>
                  <a:schemeClr val="hlink"/>
                </a:solidFill>
                <a:hlinkClick r:id="rId3"/>
              </a:rPr>
              <a:t>https://www.flaticon.es/autores/mynamepong</a:t>
            </a:r>
            <a:r>
              <a:rPr lang="en-US" sz="1500"/>
              <a:t> </a:t>
            </a:r>
            <a:endParaRPr sz="1500"/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 u="sng">
                <a:solidFill>
                  <a:schemeClr val="hlink"/>
                </a:solidFill>
                <a:hlinkClick r:id="rId4"/>
              </a:rPr>
              <a:t>https://www.flaticon.es/autores/three-musketeers</a:t>
            </a:r>
            <a:r>
              <a:rPr lang="en-US" sz="1500"/>
              <a:t> </a:t>
            </a:r>
            <a:endParaRPr sz="1500"/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 u="sng">
                <a:solidFill>
                  <a:schemeClr val="hlink"/>
                </a:solidFill>
                <a:hlinkClick r:id="rId5"/>
              </a:rPr>
              <a:t>https://www.flaticon.es/autores/kerismaker</a:t>
            </a:r>
            <a:r>
              <a:rPr lang="en-US" sz="1500"/>
              <a:t> </a:t>
            </a:r>
            <a:endParaRPr sz="1500"/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 u="sng">
                <a:solidFill>
                  <a:schemeClr val="hlink"/>
                </a:solidFill>
                <a:hlinkClick r:id="rId6"/>
              </a:rPr>
              <a:t>https://www.flaticon.es/autores/vectors-tank</a:t>
            </a:r>
            <a:r>
              <a:rPr lang="en-US" sz="1500"/>
              <a:t> </a:t>
            </a:r>
            <a:endParaRPr sz="1500"/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 u="sng">
                <a:solidFill>
                  <a:schemeClr val="hlink"/>
                </a:solidFill>
                <a:hlinkClick r:id="rId7"/>
              </a:rPr>
              <a:t>https://www.flaticon.es/autores/becris</a:t>
            </a:r>
            <a:r>
              <a:rPr lang="en-US" sz="1500"/>
              <a:t> </a:t>
            </a:r>
            <a:endParaRPr sz="1500"/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 u="sng">
                <a:solidFill>
                  <a:schemeClr val="hlink"/>
                </a:solidFill>
                <a:hlinkClick r:id="rId8"/>
              </a:rPr>
              <a:t>https://www.flaticon.es/autores/zulfa-mahendra</a:t>
            </a:r>
            <a:r>
              <a:rPr lang="en-US" sz="1500"/>
              <a:t> </a:t>
            </a:r>
            <a:endParaRPr sz="1500"/>
          </a:p>
        </p:txBody>
      </p:sp>
      <p:pic>
        <p:nvPicPr>
          <p:cNvPr id="470" name="Google Shape;470;p32"/>
          <p:cNvPicPr preferRelativeResize="0"/>
          <p:nvPr/>
        </p:nvPicPr>
        <p:blipFill>
          <a:blip r:embed="rId9"/>
          <a:stretch>
            <a:fillRect/>
          </a:stretch>
        </p:blipFill>
        <p:spPr>
          <a:xfrm>
            <a:off x="7638500" y="4804303"/>
            <a:ext cx="1361491" cy="30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33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4356575" y="2362200"/>
            <a:ext cx="43085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4483</Words>
  <Application>WPS Presentation</Application>
  <PresentationFormat/>
  <Paragraphs>318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1" baseType="lpstr">
      <vt:lpstr>Arial</vt:lpstr>
      <vt:lpstr>SimSun</vt:lpstr>
      <vt:lpstr>Wingdings</vt:lpstr>
      <vt:lpstr>Arial</vt:lpstr>
      <vt:lpstr>Atkinson Hyperlegible</vt:lpstr>
      <vt:lpstr>C059</vt:lpstr>
      <vt:lpstr>Microsoft YaHei</vt:lpstr>
      <vt:lpstr>Droid Sans Fallback</vt:lpstr>
      <vt:lpstr>Arial Unicode MS</vt:lpstr>
      <vt:lpstr>Simple Light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isaias</cp:lastModifiedBy>
  <cp:revision>5</cp:revision>
  <dcterms:created xsi:type="dcterms:W3CDTF">2026-02-26T23:39:37Z</dcterms:created>
  <dcterms:modified xsi:type="dcterms:W3CDTF">2026-02-26T23:39:37Z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